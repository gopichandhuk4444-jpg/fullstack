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4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90" r:id="rId30"/>
    <p:sldId id="29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DB"/>
    <a:srgbClr val="61E7ED"/>
    <a:srgbClr val="00DAEF"/>
    <a:srgbClr val="00B0F0"/>
    <a:srgbClr val="158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7"/>
    <p:restoredTop sz="94801"/>
  </p:normalViewPr>
  <p:slideViewPr>
    <p:cSldViewPr snapToGrid="0">
      <p:cViewPr varScale="1">
        <p:scale>
          <a:sx n="63" d="100"/>
          <a:sy n="63" d="100"/>
        </p:scale>
        <p:origin x="105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157B9-A424-7544-9BDE-F7B212EE141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2569A-D75D-6144-8235-ED6775996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68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2569A-D75D-6144-8235-ED6775996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2569A-D75D-6144-8235-ED6775996C4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90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2569A-D75D-6144-8235-ED6775996C4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88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2569A-D75D-6144-8235-ED6775996C4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610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2569A-D75D-6144-8235-ED6775996C4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19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2569A-D75D-6144-8235-ED6775996C4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83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2569A-D75D-6144-8235-ED6775996C4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71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2569A-D75D-6144-8235-ED6775996C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04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2569A-D75D-6144-8235-ED6775996C4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927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2569A-D75D-6144-8235-ED6775996C4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2569A-D75D-6144-8235-ED6775996C4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2890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2569A-D75D-6144-8235-ED6775996C4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78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2569A-D75D-6144-8235-ED6775996C4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40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2569A-D75D-6144-8235-ED6775996C4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68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2569A-D75D-6144-8235-ED6775996C4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35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773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271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9/17/2025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871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62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0547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04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213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547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336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53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881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09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23" r:id="rId6"/>
    <p:sldLayoutId id="2147483818" r:id="rId7"/>
    <p:sldLayoutId id="2147483819" r:id="rId8"/>
    <p:sldLayoutId id="2147483820" r:id="rId9"/>
    <p:sldLayoutId id="2147483822" r:id="rId10"/>
    <p:sldLayoutId id="2147483821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73" r="13174" b="2"/>
          <a:stretch/>
        </p:blipFill>
        <p:spPr>
          <a:xfrm>
            <a:off x="4487333" y="1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50" name="Freeform: Shape 17">
            <a:extLst>
              <a:ext uri="{FF2B5EF4-FFF2-40B4-BE49-F238E27FC236}">
                <a16:creationId xmlns:a16="http://schemas.microsoft.com/office/drawing/2014/main" id="{DCD36D47-40B7-494B-B249-3CBA333DE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5746" cy="6858000"/>
          </a:xfrm>
          <a:custGeom>
            <a:avLst/>
            <a:gdLst>
              <a:gd name="connsiteX0" fmla="*/ 0 w 7475746"/>
              <a:gd name="connsiteY0" fmla="*/ 0 h 6858000"/>
              <a:gd name="connsiteX1" fmla="*/ 5859459 w 7475746"/>
              <a:gd name="connsiteY1" fmla="*/ 0 h 6858000"/>
              <a:gd name="connsiteX2" fmla="*/ 5874848 w 7475746"/>
              <a:gd name="connsiteY2" fmla="*/ 10445 h 6858000"/>
              <a:gd name="connsiteX3" fmla="*/ 7475746 w 7475746"/>
              <a:gd name="connsiteY3" fmla="*/ 3621913 h 6858000"/>
              <a:gd name="connsiteX4" fmla="*/ 5601397 w 7475746"/>
              <a:gd name="connsiteY4" fmla="*/ 6378742 h 6858000"/>
              <a:gd name="connsiteX5" fmla="*/ 5084748 w 7475746"/>
              <a:gd name="connsiteY5" fmla="*/ 6785068 h 6858000"/>
              <a:gd name="connsiteX6" fmla="*/ 4979585 w 7475746"/>
              <a:gd name="connsiteY6" fmla="*/ 6858000 h 6858000"/>
              <a:gd name="connsiteX7" fmla="*/ 0 w 747574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5746" h="6858000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1" name="Freeform: Shape 19">
            <a:extLst>
              <a:ext uri="{FF2B5EF4-FFF2-40B4-BE49-F238E27FC236}">
                <a16:creationId xmlns:a16="http://schemas.microsoft.com/office/drawing/2014/main" id="{03AD0D1C-F8BA-4CD1-BC4D-BE1823F3E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7283242" cy="6858000"/>
          </a:xfrm>
          <a:custGeom>
            <a:avLst/>
            <a:gdLst>
              <a:gd name="connsiteX0" fmla="*/ 0 w 7163694"/>
              <a:gd name="connsiteY0" fmla="*/ 0 h 6858000"/>
              <a:gd name="connsiteX1" fmla="*/ 5525402 w 7163694"/>
              <a:gd name="connsiteY1" fmla="*/ 0 h 6858000"/>
              <a:gd name="connsiteX2" fmla="*/ 5541001 w 7163694"/>
              <a:gd name="connsiteY2" fmla="*/ 10445 h 6858000"/>
              <a:gd name="connsiteX3" fmla="*/ 7163694 w 7163694"/>
              <a:gd name="connsiteY3" fmla="*/ 3621913 h 6858000"/>
              <a:gd name="connsiteX4" fmla="*/ 5263827 w 7163694"/>
              <a:gd name="connsiteY4" fmla="*/ 6378742 h 6858000"/>
              <a:gd name="connsiteX5" fmla="*/ 4740144 w 7163694"/>
              <a:gd name="connsiteY5" fmla="*/ 6785068 h 6858000"/>
              <a:gd name="connsiteX6" fmla="*/ 4633550 w 7163694"/>
              <a:gd name="connsiteY6" fmla="*/ 6858000 h 6858000"/>
              <a:gd name="connsiteX7" fmla="*/ 0 w 716369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63694" h="6858000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2" name="Freeform: Shape 21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9836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531" y="1346268"/>
            <a:ext cx="5274860" cy="3066706"/>
          </a:xfrm>
        </p:spPr>
        <p:txBody>
          <a:bodyPr anchor="b">
            <a:normAutofit fontScale="90000"/>
          </a:bodyPr>
          <a:lstStyle/>
          <a:p>
            <a:r>
              <a:rPr lang="en-US" sz="6000" dirty="0"/>
              <a:t>Django REST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427B0-DBD6-4F86-801A-7C6B583DC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212" y="4412974"/>
            <a:ext cx="4162357" cy="1576188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200" dirty="0"/>
              <a:t>With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07269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What is an API?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427B0-DBD6-4F86-801A-7C6B583DC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4520" y="2027126"/>
            <a:ext cx="7459978" cy="568929"/>
          </a:xfrm>
        </p:spPr>
        <p:txBody>
          <a:bodyPr anchor="t">
            <a:normAutofit fontScale="92500"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API stands for Application Programming Interface</a:t>
            </a:r>
            <a:endParaRPr lang="en-US" sz="2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D66A668-8703-7B5C-02C6-6650C9147977}"/>
              </a:ext>
            </a:extLst>
          </p:cNvPr>
          <p:cNvSpPr txBox="1">
            <a:spLocks/>
          </p:cNvSpPr>
          <p:nvPr/>
        </p:nvSpPr>
        <p:spPr>
          <a:xfrm>
            <a:off x="1201211" y="2596055"/>
            <a:ext cx="8331331" cy="91657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  <a:defRPr sz="2400" b="0" kern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20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It acts as a two-way communication bridge between frontend and backend</a:t>
            </a:r>
            <a:endParaRPr lang="en-US" sz="2200" dirty="0"/>
          </a:p>
        </p:txBody>
      </p:sp>
      <p:pic>
        <p:nvPicPr>
          <p:cNvPr id="7" name="Graphic 6" descr="Internet with solid fill">
            <a:extLst>
              <a:ext uri="{FF2B5EF4-FFF2-40B4-BE49-F238E27FC236}">
                <a16:creationId xmlns:a16="http://schemas.microsoft.com/office/drawing/2014/main" id="{870447B1-3D9C-AAEC-7181-BCE78923A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41106" y="4322495"/>
            <a:ext cx="1422400" cy="1422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6201AF-5133-55B3-2E62-28D355BD8142}"/>
              </a:ext>
            </a:extLst>
          </p:cNvPr>
          <p:cNvSpPr txBox="1"/>
          <p:nvPr/>
        </p:nvSpPr>
        <p:spPr>
          <a:xfrm>
            <a:off x="2977228" y="5572560"/>
            <a:ext cx="7501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Client</a:t>
            </a:r>
            <a:endParaRPr lang="en-US" sz="1400" dirty="0"/>
          </a:p>
        </p:txBody>
      </p:sp>
      <p:pic>
        <p:nvPicPr>
          <p:cNvPr id="11" name="Graphic 10" descr="Server with solid fill">
            <a:extLst>
              <a:ext uri="{FF2B5EF4-FFF2-40B4-BE49-F238E27FC236}">
                <a16:creationId xmlns:a16="http://schemas.microsoft.com/office/drawing/2014/main" id="{A689CF6E-260A-C317-7680-F226CFCC33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50829" y="4452415"/>
            <a:ext cx="1107814" cy="11078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C0E458-3729-F57C-C071-C29BC7DEFEDA}"/>
              </a:ext>
            </a:extLst>
          </p:cNvPr>
          <p:cNvSpPr txBox="1"/>
          <p:nvPr/>
        </p:nvSpPr>
        <p:spPr>
          <a:xfrm>
            <a:off x="8248014" y="5538771"/>
            <a:ext cx="11078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Server</a:t>
            </a:r>
            <a:endParaRPr lang="en-US" dirty="0"/>
          </a:p>
        </p:txBody>
      </p:sp>
      <p:pic>
        <p:nvPicPr>
          <p:cNvPr id="19" name="Graphic 18" descr="Cloud outline">
            <a:extLst>
              <a:ext uri="{FF2B5EF4-FFF2-40B4-BE49-F238E27FC236}">
                <a16:creationId xmlns:a16="http://schemas.microsoft.com/office/drawing/2014/main" id="{17BB8BA2-5A59-B44B-09C9-58B3129C18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23165" y="4139029"/>
            <a:ext cx="1707519" cy="170751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D786F56-D352-E14C-44CA-E778C749B494}"/>
              </a:ext>
            </a:extLst>
          </p:cNvPr>
          <p:cNvSpPr txBox="1"/>
          <p:nvPr/>
        </p:nvSpPr>
        <p:spPr>
          <a:xfrm>
            <a:off x="5519108" y="5006322"/>
            <a:ext cx="1079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REST API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C6258C1-6A02-5D61-4783-C93F94DA95DE}"/>
              </a:ext>
            </a:extLst>
          </p:cNvPr>
          <p:cNvCxnSpPr/>
          <p:nvPr/>
        </p:nvCxnSpPr>
        <p:spPr>
          <a:xfrm>
            <a:off x="5366876" y="4729019"/>
            <a:ext cx="2673926" cy="0"/>
          </a:xfrm>
          <a:prstGeom prst="straightConnector1">
            <a:avLst/>
          </a:prstGeom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4BE8F90-D82C-672A-C6F6-B89086CBFFB0}"/>
              </a:ext>
            </a:extLst>
          </p:cNvPr>
          <p:cNvCxnSpPr>
            <a:cxnSpLocks/>
          </p:cNvCxnSpPr>
          <p:nvPr/>
        </p:nvCxnSpPr>
        <p:spPr>
          <a:xfrm flipH="1">
            <a:off x="4203096" y="5314099"/>
            <a:ext cx="2687782" cy="0"/>
          </a:xfrm>
          <a:prstGeom prst="straightConnector1">
            <a:avLst/>
          </a:prstGeom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F2BF8A2-A420-F307-1C53-901863698F76}"/>
              </a:ext>
            </a:extLst>
          </p:cNvPr>
          <p:cNvSpPr txBox="1"/>
          <p:nvPr/>
        </p:nvSpPr>
        <p:spPr>
          <a:xfrm>
            <a:off x="6520488" y="4498583"/>
            <a:ext cx="11078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HTTP request</a:t>
            </a:r>
            <a:endParaRPr lang="en-US" sz="10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B0E895-DB6E-012E-1CE6-054F4DC2A3EF}"/>
              </a:ext>
            </a:extLst>
          </p:cNvPr>
          <p:cNvSpPr txBox="1"/>
          <p:nvPr/>
        </p:nvSpPr>
        <p:spPr>
          <a:xfrm>
            <a:off x="4301342" y="5318714"/>
            <a:ext cx="12177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HTTP response</a:t>
            </a:r>
            <a:endParaRPr lang="en-US" sz="105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03322F-249B-D3E2-580E-92876DBBEBD1}"/>
              </a:ext>
            </a:extLst>
          </p:cNvPr>
          <p:cNvSpPr txBox="1"/>
          <p:nvPr/>
        </p:nvSpPr>
        <p:spPr>
          <a:xfrm>
            <a:off x="3897136" y="6052672"/>
            <a:ext cx="4323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Frontend &amp; Backend 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44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  <p:bldP spid="9" grpId="0"/>
      <p:bldP spid="12" grpId="0"/>
      <p:bldP spid="24" grpId="0"/>
      <p:bldP spid="34" grpId="0"/>
      <p:bldP spid="35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What is REST API?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427B0-DBD6-4F86-801A-7C6B583DC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4520" y="2027126"/>
            <a:ext cx="8328022" cy="568929"/>
          </a:xfrm>
        </p:spPr>
        <p:txBody>
          <a:bodyPr anchor="t">
            <a:norm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REST stands for Representational State Transfer</a:t>
            </a:r>
            <a:endParaRPr lang="en-US" sz="18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D66A668-8703-7B5C-02C6-6650C9147977}"/>
              </a:ext>
            </a:extLst>
          </p:cNvPr>
          <p:cNvSpPr txBox="1">
            <a:spLocks/>
          </p:cNvSpPr>
          <p:nvPr/>
        </p:nvSpPr>
        <p:spPr>
          <a:xfrm>
            <a:off x="1201211" y="2596055"/>
            <a:ext cx="9429844" cy="1141361"/>
          </a:xfrm>
          <a:prstGeom prst="rect">
            <a:avLst/>
          </a:prstGeom>
        </p:spPr>
        <p:txBody>
          <a:bodyPr vert="horz" lIns="109728" tIns="109728" rIns="109728" bIns="91440" rtlCol="0" anchor="t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  <a:defRPr sz="2400" b="0" kern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20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It organizes how web applications talk to each other, separating what the user sees (frontend) from what runs behind the scenes (backend).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2577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Core Principles of REST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691F80-B7DC-9F01-D7DE-D5F9BF170CB7}"/>
              </a:ext>
            </a:extLst>
          </p:cNvPr>
          <p:cNvSpPr txBox="1"/>
          <p:nvPr/>
        </p:nvSpPr>
        <p:spPr>
          <a:xfrm>
            <a:off x="1201211" y="1976582"/>
            <a:ext cx="9937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Stateless:</a:t>
            </a:r>
          </a:p>
          <a:p>
            <a:r>
              <a:rPr lang="en-US" dirty="0"/>
              <a:t>	</a:t>
            </a:r>
            <a:r>
              <a:rPr lang="en-IN" dirty="0"/>
              <a:t>The server doesn't store any information about the client between requests.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FDA348-F5C4-BD6B-4E9D-99689AACFFBF}"/>
              </a:ext>
            </a:extLst>
          </p:cNvPr>
          <p:cNvSpPr txBox="1"/>
          <p:nvPr/>
        </p:nvSpPr>
        <p:spPr>
          <a:xfrm>
            <a:off x="1201210" y="2861569"/>
            <a:ext cx="9937843" cy="113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Client-Server Architecture</a:t>
            </a:r>
            <a:r>
              <a:rPr lang="en-U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app (client) asks for things (data) and the server does what's requested (sends data or makes changes).</a:t>
            </a:r>
          </a:p>
        </p:txBody>
      </p:sp>
    </p:spTree>
    <p:extLst>
      <p:ext uri="{BB962C8B-B14F-4D97-AF65-F5344CB8AC3E}">
        <p14:creationId xmlns:p14="http://schemas.microsoft.com/office/powerpoint/2010/main" val="328246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Core Principles of REST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3DE7C-638F-DE35-0E85-C975E583BE40}"/>
              </a:ext>
            </a:extLst>
          </p:cNvPr>
          <p:cNvSpPr txBox="1"/>
          <p:nvPr/>
        </p:nvSpPr>
        <p:spPr>
          <a:xfrm>
            <a:off x="1127079" y="2173856"/>
            <a:ext cx="99378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Standardized Interface:</a:t>
            </a:r>
          </a:p>
          <a:p>
            <a:r>
              <a:rPr lang="en-US" b="1" kern="0" dirty="0">
                <a:latin typeface="Calibri" panose="020F0502020204030204" pitchFamily="34" charset="0"/>
                <a:ea typeface="Times New Roman" panose="02020603050405020304" pitchFamily="18" charset="0"/>
              </a:rPr>
              <a:t>	</a:t>
            </a:r>
            <a:r>
              <a:rPr lang="en-IN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REST APIs rely on a set of standard methods (GET, POST, PUT, DELETE) for interacting with resources</a:t>
            </a:r>
            <a:r>
              <a:rPr lang="en-IN" sz="1800" kern="0" dirty="0"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A18CE9-7563-AC33-0C35-50825815AC7F}"/>
              </a:ext>
            </a:extLst>
          </p:cNvPr>
          <p:cNvSpPr txBox="1"/>
          <p:nvPr/>
        </p:nvSpPr>
        <p:spPr>
          <a:xfrm>
            <a:off x="1127079" y="33358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GET - retrieving the resource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33FD5E-297C-5EEB-9CC6-E10117222BE9}"/>
              </a:ext>
            </a:extLst>
          </p:cNvPr>
          <p:cNvSpPr txBox="1"/>
          <p:nvPr/>
        </p:nvSpPr>
        <p:spPr>
          <a:xfrm>
            <a:off x="1127079" y="39464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POST </a:t>
            </a:r>
            <a:r>
              <a:rPr lang="en-US" dirty="0">
                <a:latin typeface="Calibri" panose="020F0502020204030204" pitchFamily="34" charset="0"/>
                <a:ea typeface="Aptos" panose="020B0004020202020204" pitchFamily="34" charset="0"/>
              </a:rPr>
              <a:t>-</a:t>
            </a: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 creating the resource</a:t>
            </a:r>
            <a:r>
              <a:rPr lang="en-IN" dirty="0">
                <a:effectLst/>
              </a:rPr>
              <a:t>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4B08A4-1468-CD1C-03F2-AA00E96F8E21}"/>
              </a:ext>
            </a:extLst>
          </p:cNvPr>
          <p:cNvSpPr txBox="1"/>
          <p:nvPr/>
        </p:nvSpPr>
        <p:spPr>
          <a:xfrm>
            <a:off x="5911032" y="3310707"/>
            <a:ext cx="6096000" cy="394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PUT - updating the resource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C88D23-1CB0-C556-B21C-67351D3D0F6A}"/>
              </a:ext>
            </a:extLst>
          </p:cNvPr>
          <p:cNvSpPr txBox="1"/>
          <p:nvPr/>
        </p:nvSpPr>
        <p:spPr>
          <a:xfrm>
            <a:off x="6345760" y="3943830"/>
            <a:ext cx="6132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DELETE - deleting the resource</a:t>
            </a:r>
            <a:r>
              <a:rPr lang="en-IN" dirty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13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Core Principles of REST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3DE7C-638F-DE35-0E85-C975E583BE40}"/>
              </a:ext>
            </a:extLst>
          </p:cNvPr>
          <p:cNvSpPr txBox="1"/>
          <p:nvPr/>
        </p:nvSpPr>
        <p:spPr>
          <a:xfrm>
            <a:off x="1127079" y="2173856"/>
            <a:ext cx="99378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Easy-to-Read Data:</a:t>
            </a:r>
          </a:p>
          <a:p>
            <a:r>
              <a:rPr lang="en-US" b="1" kern="0" dirty="0">
                <a:latin typeface="Calibri" panose="020F0502020204030204" pitchFamily="34" charset="0"/>
                <a:ea typeface="Times New Roman" panose="02020603050405020304" pitchFamily="18" charset="0"/>
              </a:rPr>
              <a:t>	</a:t>
            </a:r>
            <a:r>
              <a:rPr lang="en-IN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REST APIs returns the response in a </a:t>
            </a:r>
            <a:r>
              <a:rPr lang="en-IN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standardized</a:t>
            </a:r>
            <a:r>
              <a:rPr lang="en-IN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easy to read formats, typically JSON or XML formats.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37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RESTful Operations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0711AC-7344-7AFF-CACF-2FD0749771FE}"/>
              </a:ext>
            </a:extLst>
          </p:cNvPr>
          <p:cNvSpPr txBox="1"/>
          <p:nvPr/>
        </p:nvSpPr>
        <p:spPr>
          <a:xfrm>
            <a:off x="1201212" y="1646710"/>
            <a:ext cx="567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GET, POST, PUT, DELETE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32AE88-DCDC-F1F0-BA02-8084F46F42CE}"/>
              </a:ext>
            </a:extLst>
          </p:cNvPr>
          <p:cNvSpPr txBox="1"/>
          <p:nvPr/>
        </p:nvSpPr>
        <p:spPr>
          <a:xfrm>
            <a:off x="4487333" y="2950940"/>
            <a:ext cx="567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GET       	/students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30BAC0-B832-A7D8-587E-86FCDE0C98E7}"/>
              </a:ext>
            </a:extLst>
          </p:cNvPr>
          <p:cNvSpPr txBox="1"/>
          <p:nvPr/>
        </p:nvSpPr>
        <p:spPr>
          <a:xfrm>
            <a:off x="4487333" y="3589629"/>
            <a:ext cx="567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POST      	/students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0E5DE3-0251-A549-EED0-D257CCF70BA9}"/>
              </a:ext>
            </a:extLst>
          </p:cNvPr>
          <p:cNvSpPr txBox="1"/>
          <p:nvPr/>
        </p:nvSpPr>
        <p:spPr>
          <a:xfrm>
            <a:off x="4487333" y="4238252"/>
            <a:ext cx="567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PUT       	/student/1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FCFBDC-F265-9CD2-017C-826AD9065A88}"/>
              </a:ext>
            </a:extLst>
          </p:cNvPr>
          <p:cNvSpPr txBox="1"/>
          <p:nvPr/>
        </p:nvSpPr>
        <p:spPr>
          <a:xfrm>
            <a:off x="4487333" y="4880706"/>
            <a:ext cx="567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DELETE       	/student/1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B2D62-E6DC-827B-9403-68BAAFAA45F1}"/>
              </a:ext>
            </a:extLst>
          </p:cNvPr>
          <p:cNvSpPr txBox="1"/>
          <p:nvPr/>
        </p:nvSpPr>
        <p:spPr>
          <a:xfrm>
            <a:off x="6551871" y="2486983"/>
            <a:ext cx="844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URI</a:t>
            </a:r>
          </a:p>
        </p:txBody>
      </p:sp>
    </p:spTree>
    <p:extLst>
      <p:ext uri="{BB962C8B-B14F-4D97-AF65-F5344CB8AC3E}">
        <p14:creationId xmlns:p14="http://schemas.microsoft.com/office/powerpoint/2010/main" val="929567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5436" y="2580232"/>
            <a:ext cx="5441128" cy="1137752"/>
          </a:xfrm>
        </p:spPr>
        <p:txBody>
          <a:bodyPr anchor="b">
            <a:normAutofit/>
          </a:bodyPr>
          <a:lstStyle/>
          <a:p>
            <a:r>
              <a:rPr lang="en-US" sz="3200" dirty="0"/>
              <a:t>Virtual Environment</a:t>
            </a:r>
          </a:p>
        </p:txBody>
      </p:sp>
    </p:spTree>
    <p:extLst>
      <p:ext uri="{BB962C8B-B14F-4D97-AF65-F5344CB8AC3E}">
        <p14:creationId xmlns:p14="http://schemas.microsoft.com/office/powerpoint/2010/main" val="4135469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Web Application Endpoints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0711AC-7344-7AFF-CACF-2FD0749771FE}"/>
              </a:ext>
            </a:extLst>
          </p:cNvPr>
          <p:cNvSpPr txBox="1"/>
          <p:nvPr/>
        </p:nvSpPr>
        <p:spPr>
          <a:xfrm>
            <a:off x="1201211" y="1646710"/>
            <a:ext cx="7002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Users can directly access it from the web browsers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7C72C-B2C4-C0B6-BC46-4B6CA681F815}"/>
              </a:ext>
            </a:extLst>
          </p:cNvPr>
          <p:cNvSpPr txBox="1"/>
          <p:nvPr/>
        </p:nvSpPr>
        <p:spPr>
          <a:xfrm>
            <a:off x="1201211" y="3254268"/>
            <a:ext cx="7002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http://127.0.0.1:8000/students/</a:t>
            </a:r>
          </a:p>
        </p:txBody>
      </p:sp>
    </p:spTree>
    <p:extLst>
      <p:ext uri="{BB962C8B-B14F-4D97-AF65-F5344CB8AC3E}">
        <p14:creationId xmlns:p14="http://schemas.microsoft.com/office/powerpoint/2010/main" val="1174911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API Endpoints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0711AC-7344-7AFF-CACF-2FD0749771FE}"/>
              </a:ext>
            </a:extLst>
          </p:cNvPr>
          <p:cNvSpPr txBox="1"/>
          <p:nvPr/>
        </p:nvSpPr>
        <p:spPr>
          <a:xfrm>
            <a:off x="1201211" y="1646710"/>
            <a:ext cx="7002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Returns the data to integrate into the frontend.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7C72C-B2C4-C0B6-BC46-4B6CA681F815}"/>
              </a:ext>
            </a:extLst>
          </p:cNvPr>
          <p:cNvSpPr txBox="1"/>
          <p:nvPr/>
        </p:nvSpPr>
        <p:spPr>
          <a:xfrm>
            <a:off x="1201211" y="3254268"/>
            <a:ext cx="7002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http://127.0.0.1:8000/</a:t>
            </a:r>
            <a:r>
              <a:rPr lang="en-US" dirty="0" err="1"/>
              <a:t>api</a:t>
            </a:r>
            <a:r>
              <a:rPr lang="en-US" dirty="0"/>
              <a:t>/v1/students/</a:t>
            </a:r>
          </a:p>
        </p:txBody>
      </p:sp>
    </p:spTree>
    <p:extLst>
      <p:ext uri="{BB962C8B-B14F-4D97-AF65-F5344CB8AC3E}">
        <p14:creationId xmlns:p14="http://schemas.microsoft.com/office/powerpoint/2010/main" val="1957592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Serializers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0711AC-7344-7AFF-CACF-2FD0749771FE}"/>
              </a:ext>
            </a:extLst>
          </p:cNvPr>
          <p:cNvSpPr txBox="1"/>
          <p:nvPr/>
        </p:nvSpPr>
        <p:spPr>
          <a:xfrm>
            <a:off x="1201211" y="1646710"/>
            <a:ext cx="85983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Serialization is the process of converting the model object or a queryset into JSON format or any other formats that the client requires</a:t>
            </a:r>
            <a:r>
              <a:rPr lang="en-IN" dirty="0">
                <a:latin typeface="Calibri" panose="020F0502020204030204" pitchFamily="34" charset="0"/>
                <a:ea typeface="Aptos" panose="020B0004020202020204" pitchFamily="34" charset="0"/>
              </a:rPr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037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Class Based Views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0711AC-7344-7AFF-CACF-2FD0749771FE}"/>
              </a:ext>
            </a:extLst>
          </p:cNvPr>
          <p:cNvSpPr txBox="1"/>
          <p:nvPr/>
        </p:nvSpPr>
        <p:spPr>
          <a:xfrm>
            <a:off x="1201211" y="1646710"/>
            <a:ext cx="85983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Class-based views provide more structured and organized way to handle requests using Object-oriented principles.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80CDD9-30CB-20CA-BD59-5A49352CC979}"/>
              </a:ext>
            </a:extLst>
          </p:cNvPr>
          <p:cNvSpPr txBox="1"/>
          <p:nvPr/>
        </p:nvSpPr>
        <p:spPr>
          <a:xfrm>
            <a:off x="1998994" y="2808570"/>
            <a:ext cx="1110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get()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C2FA9-4139-4C5F-E9A9-364069A8EFA4}"/>
              </a:ext>
            </a:extLst>
          </p:cNvPr>
          <p:cNvSpPr txBox="1"/>
          <p:nvPr/>
        </p:nvSpPr>
        <p:spPr>
          <a:xfrm>
            <a:off x="1998994" y="3547922"/>
            <a:ext cx="960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post()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49DACE-CDE8-8CEA-CC31-7C0D06094AC3}"/>
              </a:ext>
            </a:extLst>
          </p:cNvPr>
          <p:cNvSpPr txBox="1"/>
          <p:nvPr/>
        </p:nvSpPr>
        <p:spPr>
          <a:xfrm>
            <a:off x="1998994" y="4287274"/>
            <a:ext cx="8863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put()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AB219F-E14C-EBD8-5641-BE8A63BFAD99}"/>
              </a:ext>
            </a:extLst>
          </p:cNvPr>
          <p:cNvSpPr txBox="1"/>
          <p:nvPr/>
        </p:nvSpPr>
        <p:spPr>
          <a:xfrm>
            <a:off x="1998994" y="5026626"/>
            <a:ext cx="960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delete()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D09E70-4DA4-C234-1154-600108021716}"/>
              </a:ext>
            </a:extLst>
          </p:cNvPr>
          <p:cNvSpPr txBox="1"/>
          <p:nvPr/>
        </p:nvSpPr>
        <p:spPr>
          <a:xfrm>
            <a:off x="3920546" y="2833676"/>
            <a:ext cx="2175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Get the students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BF6490A8-4E82-88B8-5C1D-E78F9C11CC4D}"/>
              </a:ext>
            </a:extLst>
          </p:cNvPr>
          <p:cNvSpPr/>
          <p:nvPr/>
        </p:nvSpPr>
        <p:spPr>
          <a:xfrm>
            <a:off x="2959770" y="2945868"/>
            <a:ext cx="692557" cy="14874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4EB281B-D91A-BA2A-F7CC-EE831D8F3105}"/>
              </a:ext>
            </a:extLst>
          </p:cNvPr>
          <p:cNvSpPr/>
          <p:nvPr/>
        </p:nvSpPr>
        <p:spPr>
          <a:xfrm>
            <a:off x="2959770" y="3631211"/>
            <a:ext cx="692557" cy="14874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022C19-D36D-F21F-40BF-2FE58904F6E7}"/>
              </a:ext>
            </a:extLst>
          </p:cNvPr>
          <p:cNvSpPr txBox="1"/>
          <p:nvPr/>
        </p:nvSpPr>
        <p:spPr>
          <a:xfrm>
            <a:off x="3920546" y="3517665"/>
            <a:ext cx="2175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Create a student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2220AA0F-8E9E-103D-5C7E-EE91D14430E5}"/>
              </a:ext>
            </a:extLst>
          </p:cNvPr>
          <p:cNvSpPr/>
          <p:nvPr/>
        </p:nvSpPr>
        <p:spPr>
          <a:xfrm>
            <a:off x="2959770" y="4397567"/>
            <a:ext cx="692557" cy="14874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11C8FD02-2D46-02F3-B884-53DF03EA29D9}"/>
              </a:ext>
            </a:extLst>
          </p:cNvPr>
          <p:cNvSpPr/>
          <p:nvPr/>
        </p:nvSpPr>
        <p:spPr>
          <a:xfrm>
            <a:off x="2959770" y="5136919"/>
            <a:ext cx="692557" cy="14874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CF863A-89A7-56C4-D61F-9954024B74CB}"/>
              </a:ext>
            </a:extLst>
          </p:cNvPr>
          <p:cNvSpPr txBox="1"/>
          <p:nvPr/>
        </p:nvSpPr>
        <p:spPr>
          <a:xfrm>
            <a:off x="3920546" y="4287273"/>
            <a:ext cx="2175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Update a student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BE3223-0F77-A5E3-29D0-443DBCD15CB2}"/>
              </a:ext>
            </a:extLst>
          </p:cNvPr>
          <p:cNvSpPr txBox="1"/>
          <p:nvPr/>
        </p:nvSpPr>
        <p:spPr>
          <a:xfrm>
            <a:off x="3920546" y="5026624"/>
            <a:ext cx="2175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Delete a student</a:t>
            </a:r>
          </a:p>
        </p:txBody>
      </p:sp>
    </p:spTree>
    <p:extLst>
      <p:ext uri="{BB962C8B-B14F-4D97-AF65-F5344CB8AC3E}">
        <p14:creationId xmlns:p14="http://schemas.microsoft.com/office/powerpoint/2010/main" val="240331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5" grpId="0"/>
      <p:bldP spid="6" grpId="0"/>
      <p:bldP spid="7" grpId="0"/>
      <p:bldP spid="8" grpId="0"/>
      <p:bldP spid="10" grpId="0" animBg="1"/>
      <p:bldP spid="11" grpId="0" animBg="1"/>
      <p:bldP spid="12" grpId="0"/>
      <p:bldP spid="14" grpId="0" animBg="1"/>
      <p:bldP spid="15" grpId="0" animBg="1"/>
      <p:bldP spid="16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73" r="13174" b="2"/>
          <a:stretch/>
        </p:blipFill>
        <p:spPr>
          <a:xfrm>
            <a:off x="4487333" y="9338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Mixins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0711AC-7344-7AFF-CACF-2FD0749771FE}"/>
              </a:ext>
            </a:extLst>
          </p:cNvPr>
          <p:cNvSpPr txBox="1"/>
          <p:nvPr/>
        </p:nvSpPr>
        <p:spPr>
          <a:xfrm>
            <a:off x="1201211" y="1646710"/>
            <a:ext cx="85983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Mixins are reusable code classes in object-oriented programming that provide specific functionalities.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441F2A-AB62-8903-9AD8-C537C059ECD2}"/>
              </a:ext>
            </a:extLst>
          </p:cNvPr>
          <p:cNvSpPr txBox="1"/>
          <p:nvPr/>
        </p:nvSpPr>
        <p:spPr>
          <a:xfrm>
            <a:off x="1201210" y="2517383"/>
            <a:ext cx="8598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In Django REST Framework, mixins are used to add common functionality to views.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57E052-619B-B961-FC4A-0F5E9CCFCA88}"/>
              </a:ext>
            </a:extLst>
          </p:cNvPr>
          <p:cNvSpPr txBox="1"/>
          <p:nvPr/>
        </p:nvSpPr>
        <p:spPr>
          <a:xfrm>
            <a:off x="1230026" y="3448272"/>
            <a:ext cx="10761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Create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72DAA6-70D6-EC75-33E5-7AF6A3D42769}"/>
              </a:ext>
            </a:extLst>
          </p:cNvPr>
          <p:cNvSpPr txBox="1"/>
          <p:nvPr/>
        </p:nvSpPr>
        <p:spPr>
          <a:xfrm>
            <a:off x="1230026" y="4036125"/>
            <a:ext cx="10761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Read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7A95F7-EF2C-A11F-B318-1E8274C4AB9E}"/>
              </a:ext>
            </a:extLst>
          </p:cNvPr>
          <p:cNvSpPr txBox="1"/>
          <p:nvPr/>
        </p:nvSpPr>
        <p:spPr>
          <a:xfrm>
            <a:off x="1230026" y="4623978"/>
            <a:ext cx="10761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Update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A55C75-813A-9ADC-8D59-F9F5DD1E7564}"/>
              </a:ext>
            </a:extLst>
          </p:cNvPr>
          <p:cNvSpPr txBox="1"/>
          <p:nvPr/>
        </p:nvSpPr>
        <p:spPr>
          <a:xfrm>
            <a:off x="1230026" y="5211290"/>
            <a:ext cx="10761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421295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8" grpId="0"/>
      <p:bldP spid="19" grpId="0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Mixins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65292B-FD37-F5A0-9A4E-51110A974642}"/>
              </a:ext>
            </a:extLst>
          </p:cNvPr>
          <p:cNvSpPr txBox="1"/>
          <p:nvPr/>
        </p:nvSpPr>
        <p:spPr>
          <a:xfrm>
            <a:off x="1201212" y="2420884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ListModelMixin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8F2DB0-B20F-2554-F83C-883F918954DE}"/>
              </a:ext>
            </a:extLst>
          </p:cNvPr>
          <p:cNvSpPr txBox="1"/>
          <p:nvPr/>
        </p:nvSpPr>
        <p:spPr>
          <a:xfrm>
            <a:off x="1201211" y="3034533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CreateModelMixin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248522-7BF1-54ED-CE7C-C9DE8BADE46F}"/>
              </a:ext>
            </a:extLst>
          </p:cNvPr>
          <p:cNvSpPr txBox="1"/>
          <p:nvPr/>
        </p:nvSpPr>
        <p:spPr>
          <a:xfrm>
            <a:off x="1199869" y="3648182"/>
            <a:ext cx="2825151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RetriewModelMixin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7DF890-18D7-8FFC-B700-F585E5E1E0B2}"/>
              </a:ext>
            </a:extLst>
          </p:cNvPr>
          <p:cNvSpPr txBox="1"/>
          <p:nvPr/>
        </p:nvSpPr>
        <p:spPr>
          <a:xfrm>
            <a:off x="1199869" y="4263377"/>
            <a:ext cx="2764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UpdateModelMixin</a:t>
            </a:r>
            <a:r>
              <a:rPr lang="en-IN" sz="1600" dirty="0">
                <a:effectLst/>
              </a:rPr>
              <a:t> 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40638E-ACE2-C556-CCF4-DF41240B9A5E}"/>
              </a:ext>
            </a:extLst>
          </p:cNvPr>
          <p:cNvSpPr txBox="1"/>
          <p:nvPr/>
        </p:nvSpPr>
        <p:spPr>
          <a:xfrm>
            <a:off x="1176547" y="4853437"/>
            <a:ext cx="2506932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DestroyModelMixin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E0D31F-4F78-C771-C81F-05BE04553010}"/>
              </a:ext>
            </a:extLst>
          </p:cNvPr>
          <p:cNvSpPr txBox="1"/>
          <p:nvPr/>
        </p:nvSpPr>
        <p:spPr>
          <a:xfrm>
            <a:off x="6463494" y="2420884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 err="1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generics.GenericAPIView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B9D1C4-0A7A-DEDC-FD23-C939D1260316}"/>
              </a:ext>
            </a:extLst>
          </p:cNvPr>
          <p:cNvSpPr txBox="1"/>
          <p:nvPr/>
        </p:nvSpPr>
        <p:spPr>
          <a:xfrm>
            <a:off x="6966250" y="2781817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get()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730182-40F5-86AE-BDED-E3ECDC148EE0}"/>
              </a:ext>
            </a:extLst>
          </p:cNvPr>
          <p:cNvSpPr txBox="1"/>
          <p:nvPr/>
        </p:nvSpPr>
        <p:spPr>
          <a:xfrm>
            <a:off x="6966250" y="3258467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post()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C646D0-C08E-43E7-D165-9E0C0C0FDAA4}"/>
              </a:ext>
            </a:extLst>
          </p:cNvPr>
          <p:cNvSpPr txBox="1"/>
          <p:nvPr/>
        </p:nvSpPr>
        <p:spPr>
          <a:xfrm>
            <a:off x="6966250" y="3736457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put()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C2F4AD-F599-55BC-9856-0E0DED508AAE}"/>
              </a:ext>
            </a:extLst>
          </p:cNvPr>
          <p:cNvSpPr txBox="1"/>
          <p:nvPr/>
        </p:nvSpPr>
        <p:spPr>
          <a:xfrm>
            <a:off x="6966249" y="4214447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delete()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96A10F-E3D9-E8C5-D66D-8BED494B9C63}"/>
              </a:ext>
            </a:extLst>
          </p:cNvPr>
          <p:cNvSpPr txBox="1"/>
          <p:nvPr/>
        </p:nvSpPr>
        <p:spPr>
          <a:xfrm>
            <a:off x="6463494" y="4976637"/>
            <a:ext cx="452717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{ </a:t>
            </a:r>
          </a:p>
          <a:p>
            <a:r>
              <a:rPr lang="en-IN" sz="1600" dirty="0"/>
              <a:t>  "id": 1,</a:t>
            </a:r>
          </a:p>
          <a:p>
            <a:r>
              <a:rPr lang="en-IN" sz="1600" dirty="0"/>
              <a:t>  "name": "John Doe",</a:t>
            </a:r>
          </a:p>
          <a:p>
            <a:r>
              <a:rPr lang="en-IN" sz="1600" dirty="0"/>
              <a:t>  ”designation":  ”Software Engineer" </a:t>
            </a:r>
          </a:p>
          <a:p>
            <a:r>
              <a:rPr lang="en-IN" sz="1600" dirty="0"/>
              <a:t>}</a:t>
            </a:r>
            <a:endParaRPr lang="en-US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FD80C4-5A72-7E7A-FFAE-526209E76500}"/>
              </a:ext>
            </a:extLst>
          </p:cNvPr>
          <p:cNvSpPr txBox="1"/>
          <p:nvPr/>
        </p:nvSpPr>
        <p:spPr>
          <a:xfrm>
            <a:off x="4720356" y="1519321"/>
            <a:ext cx="6270314" cy="394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 Employees(mixins</a:t>
            </a:r>
            <a:r>
              <a:rPr lang="en-US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generics.</a:t>
            </a:r>
            <a:r>
              <a:rPr lang="en-US" sz="1800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GenericAPIView</a:t>
            </a:r>
            <a:r>
              <a:rPr lang="en-US" sz="18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1C731A-BD88-3446-BAC7-7349561BEC04}"/>
              </a:ext>
            </a:extLst>
          </p:cNvPr>
          <p:cNvSpPr txBox="1"/>
          <p:nvPr/>
        </p:nvSpPr>
        <p:spPr>
          <a:xfrm>
            <a:off x="4212369" y="2425895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list()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E2A843-6613-DB64-B700-3EE1621DC220}"/>
              </a:ext>
            </a:extLst>
          </p:cNvPr>
          <p:cNvSpPr txBox="1"/>
          <p:nvPr/>
        </p:nvSpPr>
        <p:spPr>
          <a:xfrm>
            <a:off x="4186128" y="3036990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create()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6C903D-1B76-8A4C-1A32-87B82E548686}"/>
              </a:ext>
            </a:extLst>
          </p:cNvPr>
          <p:cNvSpPr txBox="1"/>
          <p:nvPr/>
        </p:nvSpPr>
        <p:spPr>
          <a:xfrm>
            <a:off x="4212369" y="3648182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retrieve()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3A43E3-5271-1056-D4CF-41D2A71DE509}"/>
              </a:ext>
            </a:extLst>
          </p:cNvPr>
          <p:cNvSpPr txBox="1"/>
          <p:nvPr/>
        </p:nvSpPr>
        <p:spPr>
          <a:xfrm>
            <a:off x="4186127" y="4249156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update()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1F308B-456F-988F-6FC0-5393E0ABF4F4}"/>
              </a:ext>
            </a:extLst>
          </p:cNvPr>
          <p:cNvSpPr txBox="1"/>
          <p:nvPr/>
        </p:nvSpPr>
        <p:spPr>
          <a:xfrm>
            <a:off x="4186127" y="4865778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destroy()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68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1" grpId="0"/>
      <p:bldP spid="14" grpId="0"/>
      <p:bldP spid="30" grpId="0"/>
      <p:bldP spid="31" grpId="0"/>
      <p:bldP spid="32" grpId="0"/>
      <p:bldP spid="33" grpId="0"/>
      <p:bldP spid="34" grpId="0"/>
      <p:bldP spid="36" grpId="0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Mixins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65292B-FD37-F5A0-9A4E-51110A974642}"/>
              </a:ext>
            </a:extLst>
          </p:cNvPr>
          <p:cNvSpPr txBox="1"/>
          <p:nvPr/>
        </p:nvSpPr>
        <p:spPr>
          <a:xfrm>
            <a:off x="1201212" y="2420884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ListModelMixin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8F2DB0-B20F-2554-F83C-883F918954DE}"/>
              </a:ext>
            </a:extLst>
          </p:cNvPr>
          <p:cNvSpPr txBox="1"/>
          <p:nvPr/>
        </p:nvSpPr>
        <p:spPr>
          <a:xfrm>
            <a:off x="1201211" y="3034533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CreateModelMixin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248522-7BF1-54ED-CE7C-C9DE8BADE46F}"/>
              </a:ext>
            </a:extLst>
          </p:cNvPr>
          <p:cNvSpPr txBox="1"/>
          <p:nvPr/>
        </p:nvSpPr>
        <p:spPr>
          <a:xfrm>
            <a:off x="1199869" y="3648182"/>
            <a:ext cx="2825151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RetriewModelMixin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7DF890-18D7-8FFC-B700-F585E5E1E0B2}"/>
              </a:ext>
            </a:extLst>
          </p:cNvPr>
          <p:cNvSpPr txBox="1"/>
          <p:nvPr/>
        </p:nvSpPr>
        <p:spPr>
          <a:xfrm>
            <a:off x="1199869" y="4263377"/>
            <a:ext cx="2764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UpdateModelMixin</a:t>
            </a:r>
            <a:r>
              <a:rPr lang="en-IN" sz="1600" dirty="0">
                <a:effectLst/>
              </a:rPr>
              <a:t> 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40638E-ACE2-C556-CCF4-DF41240B9A5E}"/>
              </a:ext>
            </a:extLst>
          </p:cNvPr>
          <p:cNvSpPr txBox="1"/>
          <p:nvPr/>
        </p:nvSpPr>
        <p:spPr>
          <a:xfrm>
            <a:off x="1176547" y="4853437"/>
            <a:ext cx="2506932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DestroyModelMixin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6948DF-8D5F-0448-E6BB-E20F2AC847EF}"/>
              </a:ext>
            </a:extLst>
          </p:cNvPr>
          <p:cNvSpPr txBox="1"/>
          <p:nvPr/>
        </p:nvSpPr>
        <p:spPr>
          <a:xfrm>
            <a:off x="4087723" y="1646710"/>
            <a:ext cx="6927730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 Employees(</a:t>
            </a:r>
            <a:r>
              <a:rPr lang="en-US" sz="1600" kern="100" dirty="0" err="1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mixins.</a:t>
            </a:r>
            <a:r>
              <a:rPr lang="en-US" sz="1600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ListModelMixin</a:t>
            </a:r>
            <a:r>
              <a:rPr lang="en-US" sz="16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, </a:t>
            </a:r>
            <a:r>
              <a:rPr lang="en-US" sz="1600" kern="100" dirty="0" err="1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generics.</a:t>
            </a:r>
            <a:r>
              <a:rPr lang="en-US" sz="1600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GenericAPIView</a:t>
            </a: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C30C59-2C1F-4AB2-AECD-3E17048B2ED0}"/>
              </a:ext>
            </a:extLst>
          </p:cNvPr>
          <p:cNvSpPr txBox="1"/>
          <p:nvPr/>
        </p:nvSpPr>
        <p:spPr>
          <a:xfrm>
            <a:off x="5140904" y="2138184"/>
            <a:ext cx="3270089" cy="361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IN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</a:t>
            </a:r>
            <a:r>
              <a:rPr lang="en-IN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 get(self, request):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710F9D-890F-05DC-EEAB-A23F75344D54}"/>
              </a:ext>
            </a:extLst>
          </p:cNvPr>
          <p:cNvSpPr txBox="1"/>
          <p:nvPr/>
        </p:nvSpPr>
        <p:spPr>
          <a:xfrm>
            <a:off x="5824529" y="2486006"/>
            <a:ext cx="3270089" cy="361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 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self.list</a:t>
            </a:r>
            <a:r>
              <a:rPr lang="en-IN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(request)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BAC59C-6CA3-1773-BE72-6A37B040D84E}"/>
              </a:ext>
            </a:extLst>
          </p:cNvPr>
          <p:cNvSpPr txBox="1"/>
          <p:nvPr/>
        </p:nvSpPr>
        <p:spPr>
          <a:xfrm>
            <a:off x="4027336" y="3306824"/>
            <a:ext cx="8166980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 Employees(</a:t>
            </a:r>
            <a:r>
              <a:rPr lang="en-US" sz="1600" kern="100" dirty="0" err="1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mixins.</a:t>
            </a:r>
            <a:r>
              <a:rPr lang="en-US" sz="1600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ListModelMixin</a:t>
            </a:r>
            <a:r>
              <a:rPr lang="en-US" sz="16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, </a:t>
            </a:r>
            <a:r>
              <a:rPr lang="en-US" sz="1600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mixins.CreateModelMixin</a:t>
            </a:r>
            <a:r>
              <a:rPr lang="en-US" sz="16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, </a:t>
            </a:r>
            <a:r>
              <a:rPr lang="en-US" sz="1600" kern="100" dirty="0" err="1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generics.</a:t>
            </a:r>
            <a:r>
              <a:rPr lang="en-US" sz="1600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GenericAPIView</a:t>
            </a: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2E4D9F-708D-6B85-D1DE-2308AA5ED07C}"/>
              </a:ext>
            </a:extLst>
          </p:cNvPr>
          <p:cNvSpPr txBox="1"/>
          <p:nvPr/>
        </p:nvSpPr>
        <p:spPr>
          <a:xfrm>
            <a:off x="5080517" y="3798298"/>
            <a:ext cx="3855051" cy="361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IN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</a:t>
            </a:r>
            <a:r>
              <a:rPr lang="en-IN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 get(self, request):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F203C1-5DC4-8205-7A31-E6FEBDE90595}"/>
              </a:ext>
            </a:extLst>
          </p:cNvPr>
          <p:cNvSpPr txBox="1"/>
          <p:nvPr/>
        </p:nvSpPr>
        <p:spPr>
          <a:xfrm>
            <a:off x="5764142" y="4146120"/>
            <a:ext cx="3855051" cy="361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 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self.list</a:t>
            </a:r>
            <a:r>
              <a:rPr lang="en-IN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(request)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BB05DC-97AF-5294-40D3-0062C83DE198}"/>
              </a:ext>
            </a:extLst>
          </p:cNvPr>
          <p:cNvSpPr txBox="1"/>
          <p:nvPr/>
        </p:nvSpPr>
        <p:spPr>
          <a:xfrm>
            <a:off x="5080517" y="4777085"/>
            <a:ext cx="3855051" cy="361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IN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</a:t>
            </a:r>
            <a:r>
              <a:rPr lang="en-IN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 post(self, request):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CEE171-9715-1EE6-64EA-EEF524976BE9}"/>
              </a:ext>
            </a:extLst>
          </p:cNvPr>
          <p:cNvSpPr txBox="1"/>
          <p:nvPr/>
        </p:nvSpPr>
        <p:spPr>
          <a:xfrm>
            <a:off x="5764142" y="5124907"/>
            <a:ext cx="3855051" cy="361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 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self.create</a:t>
            </a:r>
            <a:r>
              <a:rPr lang="en-IN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(request)</a:t>
            </a:r>
          </a:p>
        </p:txBody>
      </p:sp>
    </p:spTree>
    <p:extLst>
      <p:ext uri="{BB962C8B-B14F-4D97-AF65-F5344CB8AC3E}">
        <p14:creationId xmlns:p14="http://schemas.microsoft.com/office/powerpoint/2010/main" val="426571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2" grpId="0"/>
      <p:bldP spid="25" grpId="0"/>
      <p:bldP spid="26" grpId="0"/>
      <p:bldP spid="27" grpId="0"/>
      <p:bldP spid="28" grpId="0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73" r="13174" b="2"/>
          <a:stretch/>
        </p:blipFill>
        <p:spPr>
          <a:xfrm>
            <a:off x="4487333" y="125506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Generics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65292B-FD37-F5A0-9A4E-51110A974642}"/>
              </a:ext>
            </a:extLst>
          </p:cNvPr>
          <p:cNvSpPr txBox="1"/>
          <p:nvPr/>
        </p:nvSpPr>
        <p:spPr>
          <a:xfrm>
            <a:off x="1727547" y="1952682"/>
            <a:ext cx="1607324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ListAPIView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8F2DB0-B20F-2554-F83C-883F918954DE}"/>
              </a:ext>
            </a:extLst>
          </p:cNvPr>
          <p:cNvSpPr txBox="1"/>
          <p:nvPr/>
        </p:nvSpPr>
        <p:spPr>
          <a:xfrm>
            <a:off x="1727545" y="2313615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CreateAPIView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248522-7BF1-54ED-CE7C-C9DE8BADE46F}"/>
              </a:ext>
            </a:extLst>
          </p:cNvPr>
          <p:cNvSpPr txBox="1"/>
          <p:nvPr/>
        </p:nvSpPr>
        <p:spPr>
          <a:xfrm>
            <a:off x="1726203" y="2707322"/>
            <a:ext cx="2825151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RetrieveAPIView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7DF890-18D7-8FFC-B700-F585E5E1E0B2}"/>
              </a:ext>
            </a:extLst>
          </p:cNvPr>
          <p:cNvSpPr txBox="1"/>
          <p:nvPr/>
        </p:nvSpPr>
        <p:spPr>
          <a:xfrm>
            <a:off x="1726203" y="3144349"/>
            <a:ext cx="2764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UpdateAPIView</a:t>
            </a:r>
            <a:r>
              <a:rPr lang="en-IN" sz="1600" dirty="0">
                <a:effectLst/>
              </a:rPr>
              <a:t> 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40638E-ACE2-C556-CCF4-DF41240B9A5E}"/>
              </a:ext>
            </a:extLst>
          </p:cNvPr>
          <p:cNvSpPr txBox="1"/>
          <p:nvPr/>
        </p:nvSpPr>
        <p:spPr>
          <a:xfrm>
            <a:off x="1726203" y="3564440"/>
            <a:ext cx="2506932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DestroyAPIView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DAA1CB-D31C-B5A4-0B48-6870BAD16511}"/>
              </a:ext>
            </a:extLst>
          </p:cNvPr>
          <p:cNvSpPr txBox="1"/>
          <p:nvPr/>
        </p:nvSpPr>
        <p:spPr>
          <a:xfrm>
            <a:off x="1726203" y="4552159"/>
            <a:ext cx="2506932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ListCreateAPIView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C18006-5389-DA70-8426-0BFF47300D7D}"/>
              </a:ext>
            </a:extLst>
          </p:cNvPr>
          <p:cNvSpPr txBox="1"/>
          <p:nvPr/>
        </p:nvSpPr>
        <p:spPr>
          <a:xfrm>
            <a:off x="1726203" y="4925305"/>
            <a:ext cx="2506932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 err="1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RetrieveUpdateAPIView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5C7A6F-43EE-AB86-F31A-163D4D64EDA5}"/>
              </a:ext>
            </a:extLst>
          </p:cNvPr>
          <p:cNvSpPr txBox="1"/>
          <p:nvPr/>
        </p:nvSpPr>
        <p:spPr>
          <a:xfrm>
            <a:off x="1726203" y="5298451"/>
            <a:ext cx="3008528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 err="1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RetrieveUpdateDestroyAPIView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501BE138-E3E9-8347-FF8A-1721EDA0D3B4}"/>
              </a:ext>
            </a:extLst>
          </p:cNvPr>
          <p:cNvSpPr/>
          <p:nvPr/>
        </p:nvSpPr>
        <p:spPr>
          <a:xfrm>
            <a:off x="3334869" y="2088777"/>
            <a:ext cx="1399861" cy="14330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B86036-7B70-1092-528F-F7182948EE2D}"/>
              </a:ext>
            </a:extLst>
          </p:cNvPr>
          <p:cNvSpPr txBox="1"/>
          <p:nvPr/>
        </p:nvSpPr>
        <p:spPr>
          <a:xfrm>
            <a:off x="5075147" y="1979961"/>
            <a:ext cx="3988170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listing the objects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44E106D0-6753-4089-A9FB-6E8E89C9DFAE}"/>
              </a:ext>
            </a:extLst>
          </p:cNvPr>
          <p:cNvSpPr/>
          <p:nvPr/>
        </p:nvSpPr>
        <p:spPr>
          <a:xfrm>
            <a:off x="3334868" y="2497917"/>
            <a:ext cx="1399861" cy="14330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8DEDE8-8501-80CE-ADF8-9074ED66DD6E}"/>
              </a:ext>
            </a:extLst>
          </p:cNvPr>
          <p:cNvSpPr txBox="1"/>
          <p:nvPr/>
        </p:nvSpPr>
        <p:spPr>
          <a:xfrm>
            <a:off x="5075147" y="2366211"/>
            <a:ext cx="3988170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creating the objects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434AAE68-6143-0CED-485B-706D71BA48B6}"/>
              </a:ext>
            </a:extLst>
          </p:cNvPr>
          <p:cNvSpPr/>
          <p:nvPr/>
        </p:nvSpPr>
        <p:spPr>
          <a:xfrm>
            <a:off x="3334867" y="2858850"/>
            <a:ext cx="1399861" cy="14330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87E3428E-4723-E782-C9FD-26C0319C7CE2}"/>
              </a:ext>
            </a:extLst>
          </p:cNvPr>
          <p:cNvSpPr/>
          <p:nvPr/>
        </p:nvSpPr>
        <p:spPr>
          <a:xfrm>
            <a:off x="3334866" y="3244209"/>
            <a:ext cx="1399861" cy="14330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810B8FC9-9608-0BD1-A0B2-96D9CE6E5429}"/>
              </a:ext>
            </a:extLst>
          </p:cNvPr>
          <p:cNvSpPr/>
          <p:nvPr/>
        </p:nvSpPr>
        <p:spPr>
          <a:xfrm>
            <a:off x="3334865" y="3673255"/>
            <a:ext cx="1399861" cy="14330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79A51882-900C-136F-1452-585B6D243CB5}"/>
              </a:ext>
            </a:extLst>
          </p:cNvPr>
          <p:cNvSpPr/>
          <p:nvPr/>
        </p:nvSpPr>
        <p:spPr>
          <a:xfrm>
            <a:off x="4551355" y="4674062"/>
            <a:ext cx="1399861" cy="14330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5CB09BB9-68EB-ABA4-B73E-49256BF1DCF3}"/>
              </a:ext>
            </a:extLst>
          </p:cNvPr>
          <p:cNvSpPr/>
          <p:nvPr/>
        </p:nvSpPr>
        <p:spPr>
          <a:xfrm>
            <a:off x="4551354" y="5047208"/>
            <a:ext cx="1399861" cy="14330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E3F65E16-C00B-C8C3-AFA4-B6243D73CCF9}"/>
              </a:ext>
            </a:extLst>
          </p:cNvPr>
          <p:cNvSpPr/>
          <p:nvPr/>
        </p:nvSpPr>
        <p:spPr>
          <a:xfrm>
            <a:off x="4551354" y="5415071"/>
            <a:ext cx="1399861" cy="14330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1EDA54-033D-D41C-D5C4-D187DE2F94F5}"/>
              </a:ext>
            </a:extLst>
          </p:cNvPr>
          <p:cNvSpPr txBox="1"/>
          <p:nvPr/>
        </p:nvSpPr>
        <p:spPr>
          <a:xfrm>
            <a:off x="5075147" y="2783416"/>
            <a:ext cx="4687418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retrieving a single object using pk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A76F0D-AC71-01E3-D6EB-D55D621D627A}"/>
              </a:ext>
            </a:extLst>
          </p:cNvPr>
          <p:cNvSpPr txBox="1"/>
          <p:nvPr/>
        </p:nvSpPr>
        <p:spPr>
          <a:xfrm>
            <a:off x="5073796" y="3131067"/>
            <a:ext cx="4687418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updating a single object using pk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F02E4A-0DBE-885B-528A-6A917AC0AAF8}"/>
              </a:ext>
            </a:extLst>
          </p:cNvPr>
          <p:cNvSpPr txBox="1"/>
          <p:nvPr/>
        </p:nvSpPr>
        <p:spPr>
          <a:xfrm>
            <a:off x="5073796" y="3546088"/>
            <a:ext cx="4687418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deleting an object using pk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A3C559-86A3-1A1E-0EED-5194DD07F52C}"/>
              </a:ext>
            </a:extLst>
          </p:cNvPr>
          <p:cNvSpPr txBox="1"/>
          <p:nvPr/>
        </p:nvSpPr>
        <p:spPr>
          <a:xfrm>
            <a:off x="6015238" y="4565246"/>
            <a:ext cx="4687418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listing and creating objects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D8FBDE-87C0-2BF3-4794-686D14AE9CFF}"/>
              </a:ext>
            </a:extLst>
          </p:cNvPr>
          <p:cNvSpPr txBox="1"/>
          <p:nvPr/>
        </p:nvSpPr>
        <p:spPr>
          <a:xfrm>
            <a:off x="6015238" y="4976357"/>
            <a:ext cx="4687418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retrieving &amp; updating objects using pk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D221D7-1198-75F0-2D81-EFCD9E594787}"/>
              </a:ext>
            </a:extLst>
          </p:cNvPr>
          <p:cNvSpPr txBox="1"/>
          <p:nvPr/>
        </p:nvSpPr>
        <p:spPr>
          <a:xfrm>
            <a:off x="6015238" y="5337290"/>
            <a:ext cx="4687418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retrieving, updating &amp; deleting objects using pk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358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1" grpId="0"/>
      <p:bldP spid="14" grpId="0"/>
      <p:bldP spid="3" grpId="0"/>
      <p:bldP spid="7" grpId="0"/>
      <p:bldP spid="9" grpId="0"/>
      <p:bldP spid="10" grpId="0" animBg="1"/>
      <p:bldP spid="15" grpId="0"/>
      <p:bldP spid="18" grpId="0" animBg="1"/>
      <p:bldP spid="19" grpId="0"/>
      <p:bldP spid="20" grpId="0" animBg="1"/>
      <p:bldP spid="21" grpId="0" animBg="1"/>
      <p:bldP spid="23" grpId="0" animBg="1"/>
      <p:bldP spid="24" grpId="0" animBg="1"/>
      <p:bldP spid="30" grpId="0" animBg="1"/>
      <p:bldP spid="31" grpId="0" animBg="1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73" r="13174" b="2"/>
          <a:stretch/>
        </p:blipFill>
        <p:spPr>
          <a:xfrm>
            <a:off x="4487333" y="125506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 err="1"/>
              <a:t>Viewsets</a:t>
            </a:r>
            <a:endParaRPr 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D54E72-8324-3471-DF9E-AAB47A5E01B7}"/>
              </a:ext>
            </a:extLst>
          </p:cNvPr>
          <p:cNvSpPr txBox="1"/>
          <p:nvPr/>
        </p:nvSpPr>
        <p:spPr>
          <a:xfrm>
            <a:off x="1480638" y="2392894"/>
            <a:ext cx="2506932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 err="1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</a:t>
            </a:r>
            <a:r>
              <a:rPr lang="en-US" sz="16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iewsets.ViewSet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FE34FD-4F39-EA01-68DA-64D3E4E7C565}"/>
              </a:ext>
            </a:extLst>
          </p:cNvPr>
          <p:cNvSpPr txBox="1"/>
          <p:nvPr/>
        </p:nvSpPr>
        <p:spPr>
          <a:xfrm>
            <a:off x="1480638" y="4605447"/>
            <a:ext cx="2506932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 err="1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</a:t>
            </a:r>
            <a:r>
              <a:rPr lang="en-US" sz="16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iewsets.ModelViewSet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C88771-72DA-F7C5-5489-F9D2D9F5278D}"/>
              </a:ext>
            </a:extLst>
          </p:cNvPr>
          <p:cNvSpPr txBox="1"/>
          <p:nvPr/>
        </p:nvSpPr>
        <p:spPr>
          <a:xfrm>
            <a:off x="4513575" y="1285777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list()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B38313-4E65-D407-EBAE-58043EEC6EE5}"/>
              </a:ext>
            </a:extLst>
          </p:cNvPr>
          <p:cNvSpPr txBox="1"/>
          <p:nvPr/>
        </p:nvSpPr>
        <p:spPr>
          <a:xfrm>
            <a:off x="4487334" y="1896872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create()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AA1377-75A9-8AAD-92AB-87526F77E2C3}"/>
              </a:ext>
            </a:extLst>
          </p:cNvPr>
          <p:cNvSpPr txBox="1"/>
          <p:nvPr/>
        </p:nvSpPr>
        <p:spPr>
          <a:xfrm>
            <a:off x="4513575" y="2508064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retrieve()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0DEE45-84FF-01DE-536D-F60FEAF5A3AC}"/>
              </a:ext>
            </a:extLst>
          </p:cNvPr>
          <p:cNvSpPr txBox="1"/>
          <p:nvPr/>
        </p:nvSpPr>
        <p:spPr>
          <a:xfrm>
            <a:off x="4487333" y="3109038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update()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B1D7CA-B482-AC9C-080C-A52BD9E82862}"/>
              </a:ext>
            </a:extLst>
          </p:cNvPr>
          <p:cNvSpPr txBox="1"/>
          <p:nvPr/>
        </p:nvSpPr>
        <p:spPr>
          <a:xfrm>
            <a:off x="4487333" y="3725660"/>
            <a:ext cx="2361497" cy="36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delete()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48E0D380-02A2-5C29-D48B-4DE232F351BB}"/>
              </a:ext>
            </a:extLst>
          </p:cNvPr>
          <p:cNvSpPr/>
          <p:nvPr/>
        </p:nvSpPr>
        <p:spPr>
          <a:xfrm>
            <a:off x="3800883" y="1216393"/>
            <a:ext cx="546100" cy="289279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43A240-67DD-A8CC-DD40-40ECA2785A1A}"/>
              </a:ext>
            </a:extLst>
          </p:cNvPr>
          <p:cNvSpPr txBox="1"/>
          <p:nvPr/>
        </p:nvSpPr>
        <p:spPr>
          <a:xfrm>
            <a:off x="4346982" y="4599486"/>
            <a:ext cx="7033441" cy="64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Takes only </a:t>
            </a:r>
            <a:r>
              <a:rPr lang="en-US" sz="1600" kern="100" dirty="0" err="1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queryset</a:t>
            </a: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US" sz="1600" kern="100" dirty="0" err="1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serializer_class</a:t>
            </a:r>
            <a:r>
              <a:rPr lang="en-US" sz="16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automatically provides both pk based and non-pk based operations.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83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17" grpId="0"/>
      <p:bldP spid="22" grpId="0"/>
      <p:bldP spid="25" grpId="0"/>
      <p:bldP spid="26" grpId="0"/>
      <p:bldP spid="41" grpId="0" animBg="1"/>
      <p:bldP spid="4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Pagination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C14761-F4EF-6C0C-2173-7DD05398A400}"/>
              </a:ext>
            </a:extLst>
          </p:cNvPr>
          <p:cNvSpPr txBox="1"/>
          <p:nvPr/>
        </p:nvSpPr>
        <p:spPr>
          <a:xfrm>
            <a:off x="1201212" y="2222103"/>
            <a:ext cx="3051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+mj-lt"/>
              </a:rPr>
              <a:t>PageNumberPagination</a:t>
            </a:r>
            <a:endParaRPr lang="en-US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FECF2F-6EF6-4CB8-9975-F66A8FA57C65}"/>
              </a:ext>
            </a:extLst>
          </p:cNvPr>
          <p:cNvSpPr txBox="1"/>
          <p:nvPr/>
        </p:nvSpPr>
        <p:spPr>
          <a:xfrm>
            <a:off x="1201212" y="3739500"/>
            <a:ext cx="3286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LimitOffsetPagination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B24523-7B18-2A90-F6E4-DE7A48B48CCB}"/>
              </a:ext>
            </a:extLst>
          </p:cNvPr>
          <p:cNvSpPr txBox="1"/>
          <p:nvPr/>
        </p:nvSpPr>
        <p:spPr>
          <a:xfrm>
            <a:off x="4811367" y="2252880"/>
            <a:ext cx="30516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</a:rPr>
              <a:t>page_size = 10</a:t>
            </a:r>
            <a:endParaRPr lang="en-US" sz="1200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A4355C-3D0C-598E-2D9B-44DDC8F6E427}"/>
              </a:ext>
            </a:extLst>
          </p:cNvPr>
          <p:cNvSpPr txBox="1"/>
          <p:nvPr/>
        </p:nvSpPr>
        <p:spPr>
          <a:xfrm>
            <a:off x="4811367" y="3739500"/>
            <a:ext cx="64504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+mj-lt"/>
              </a:defRPr>
            </a:lvl1pPr>
          </a:lstStyle>
          <a:p>
            <a:r>
              <a:rPr lang="en-IN" sz="1200" b="1" dirty="0"/>
              <a:t>Limit:</a:t>
            </a:r>
            <a:r>
              <a:rPr lang="en-IN" sz="1200" dirty="0"/>
              <a:t> This parameter controls how many items you want to see in a single page.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90C7E4-5091-8FC8-4045-F289227FC28D}"/>
              </a:ext>
            </a:extLst>
          </p:cNvPr>
          <p:cNvSpPr txBox="1"/>
          <p:nvPr/>
        </p:nvSpPr>
        <p:spPr>
          <a:xfrm>
            <a:off x="4811368" y="4072016"/>
            <a:ext cx="6129068" cy="304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200" b="1" dirty="0">
                <a:latin typeface="+mj-lt"/>
              </a:rPr>
              <a:t>Offset:</a:t>
            </a:r>
            <a:r>
              <a:rPr lang="en-US" sz="1200" dirty="0">
                <a:latin typeface="+mj-lt"/>
              </a:rPr>
              <a:t> This parameter tells the API where to start fetching the items from.</a:t>
            </a:r>
            <a:endParaRPr lang="en-IN" sz="1200" dirty="0"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435A2A-9E20-9B26-F196-60C6BB74737B}"/>
              </a:ext>
            </a:extLst>
          </p:cNvPr>
          <p:cNvSpPr txBox="1"/>
          <p:nvPr/>
        </p:nvSpPr>
        <p:spPr>
          <a:xfrm>
            <a:off x="5366878" y="4556823"/>
            <a:ext cx="4165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</a:rPr>
              <a:t>If offset=0, you get the first 10 blogs (items 1-10).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7C0123-E4AF-E71B-C5DD-565378A90168}"/>
              </a:ext>
            </a:extLst>
          </p:cNvPr>
          <p:cNvSpPr txBox="1"/>
          <p:nvPr/>
        </p:nvSpPr>
        <p:spPr>
          <a:xfrm>
            <a:off x="5366876" y="4833822"/>
            <a:ext cx="43119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</a:rPr>
              <a:t>If offset=10, you get the next 10 blogs (items 11-20).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C9E70F-D34B-47EE-1DB6-3EB115BE63C5}"/>
              </a:ext>
            </a:extLst>
          </p:cNvPr>
          <p:cNvSpPr txBox="1"/>
          <p:nvPr/>
        </p:nvSpPr>
        <p:spPr>
          <a:xfrm>
            <a:off x="5366877" y="5110821"/>
            <a:ext cx="4311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</a:rPr>
              <a:t>If offset=90, you get the last 10 blogs (items 91-100).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911DAF-F9DE-3B6A-680A-D71F489603AF}"/>
              </a:ext>
            </a:extLst>
          </p:cNvPr>
          <p:cNvSpPr txBox="1"/>
          <p:nvPr/>
        </p:nvSpPr>
        <p:spPr>
          <a:xfrm>
            <a:off x="9626258" y="4549921"/>
            <a:ext cx="24720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</a:rPr>
              <a:t>/blogs/?limit=10&amp;offset=0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DB3D51-8510-0883-556C-82CF01A6FBD1}"/>
              </a:ext>
            </a:extLst>
          </p:cNvPr>
          <p:cNvSpPr txBox="1"/>
          <p:nvPr/>
        </p:nvSpPr>
        <p:spPr>
          <a:xfrm>
            <a:off x="9626258" y="4828989"/>
            <a:ext cx="24720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</a:rPr>
              <a:t>/blogs/?limit=10&amp;offset=10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9F5E1E-5C50-D93D-3AF2-A94B3A948C9F}"/>
              </a:ext>
            </a:extLst>
          </p:cNvPr>
          <p:cNvSpPr txBox="1"/>
          <p:nvPr/>
        </p:nvSpPr>
        <p:spPr>
          <a:xfrm>
            <a:off x="9626257" y="5110821"/>
            <a:ext cx="24720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</a:rPr>
              <a:t>/blogs/?limit=10&amp;offset=90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E77C70-813A-F2E5-BBDE-ACDFF44843CE}"/>
              </a:ext>
            </a:extLst>
          </p:cNvPr>
          <p:cNvSpPr txBox="1"/>
          <p:nvPr/>
        </p:nvSpPr>
        <p:spPr>
          <a:xfrm>
            <a:off x="1636846" y="2579332"/>
            <a:ext cx="20867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</a:rPr>
              <a:t>/blogs/?page=10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393400-558F-1CC8-417C-C5DE08EB6284}"/>
              </a:ext>
            </a:extLst>
          </p:cNvPr>
          <p:cNvSpPr txBox="1"/>
          <p:nvPr/>
        </p:nvSpPr>
        <p:spPr>
          <a:xfrm>
            <a:off x="1405072" y="4108832"/>
            <a:ext cx="24720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</a:rPr>
              <a:t>/blogs/?limit=10&amp;offset=0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9B342C-D794-16FE-DA2E-072B2A1B58CC}"/>
              </a:ext>
            </a:extLst>
          </p:cNvPr>
          <p:cNvSpPr txBox="1"/>
          <p:nvPr/>
        </p:nvSpPr>
        <p:spPr>
          <a:xfrm>
            <a:off x="4811367" y="2536781"/>
            <a:ext cx="60988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</a:rPr>
              <a:t>Takes a page_size parameter and returns the response accordingly.</a:t>
            </a:r>
            <a:r>
              <a:rPr lang="en-IN" sz="1200" dirty="0">
                <a:latin typeface="+mj-lt"/>
              </a:rPr>
              <a:t> </a:t>
            </a:r>
            <a:endParaRPr 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71487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  <p:bldP spid="14" grpId="0"/>
      <p:bldP spid="20" grpId="0"/>
      <p:bldP spid="27" grpId="0"/>
      <p:bldP spid="29" grpId="0"/>
      <p:bldP spid="31" grpId="0"/>
      <p:bldP spid="35" grpId="0"/>
      <p:bldP spid="36" grpId="0"/>
      <p:bldP spid="37" grpId="0"/>
      <p:bldP spid="39" grpId="0"/>
      <p:bldP spid="40" grpId="0"/>
      <p:bldP spid="4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Filtering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C14761-F4EF-6C0C-2173-7DD05398A400}"/>
              </a:ext>
            </a:extLst>
          </p:cNvPr>
          <p:cNvSpPr txBox="1"/>
          <p:nvPr/>
        </p:nvSpPr>
        <p:spPr>
          <a:xfrm>
            <a:off x="1201212" y="2222103"/>
            <a:ext cx="7704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Use Case 1: Filter Employees by Designation</a:t>
            </a:r>
            <a:endParaRPr lang="en-US" b="1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2548C3-BFAB-7542-9E49-00B2B1D9E96C}"/>
              </a:ext>
            </a:extLst>
          </p:cNvPr>
          <p:cNvSpPr txBox="1"/>
          <p:nvPr/>
        </p:nvSpPr>
        <p:spPr>
          <a:xfrm>
            <a:off x="1201211" y="3420594"/>
            <a:ext cx="7704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Use Case 2: Filter Employees by Name</a:t>
            </a:r>
            <a:endParaRPr lang="en-US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2AB7B3-68C5-A833-454A-A28FE7D7128D}"/>
              </a:ext>
            </a:extLst>
          </p:cNvPr>
          <p:cNvSpPr txBox="1"/>
          <p:nvPr/>
        </p:nvSpPr>
        <p:spPr>
          <a:xfrm>
            <a:off x="1201211" y="4619085"/>
            <a:ext cx="7704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Use Case 3: Filter Employees by ID Range</a:t>
            </a:r>
            <a:endParaRPr lang="en-US" b="1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DE7127-DE83-858D-3A27-8D7452A63984}"/>
              </a:ext>
            </a:extLst>
          </p:cNvPr>
          <p:cNvSpPr txBox="1"/>
          <p:nvPr/>
        </p:nvSpPr>
        <p:spPr>
          <a:xfrm>
            <a:off x="2618116" y="2591435"/>
            <a:ext cx="81390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Criteria:</a:t>
            </a:r>
            <a:r>
              <a:rPr lang="en-IN" sz="1400" dirty="0"/>
              <a:t> Retrieve all employees with the designation "Software Engineer."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E17F64-00B0-DE01-F918-F1E0FB54C215}"/>
              </a:ext>
            </a:extLst>
          </p:cNvPr>
          <p:cNvSpPr txBox="1"/>
          <p:nvPr/>
        </p:nvSpPr>
        <p:spPr>
          <a:xfrm>
            <a:off x="2618116" y="3789926"/>
            <a:ext cx="7704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Criteria:</a:t>
            </a:r>
            <a:r>
              <a:rPr lang="en-IN" sz="1400" dirty="0"/>
              <a:t> Retrieve all employees whose names contain the word "John."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7F8D7B-C33F-9C0B-0F11-E731789232D3}"/>
              </a:ext>
            </a:extLst>
          </p:cNvPr>
          <p:cNvSpPr txBox="1"/>
          <p:nvPr/>
        </p:nvSpPr>
        <p:spPr>
          <a:xfrm>
            <a:off x="2618116" y="4988417"/>
            <a:ext cx="7704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Criteria:</a:t>
            </a:r>
            <a:r>
              <a:rPr lang="en-IN" sz="1400" dirty="0"/>
              <a:t> Retrieve all employees with IDs between ”EMP002" and ”EMP006."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37260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React 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DE7127-DE83-858D-3A27-8D7452A63984}"/>
              </a:ext>
            </a:extLst>
          </p:cNvPr>
          <p:cNvSpPr txBox="1"/>
          <p:nvPr/>
        </p:nvSpPr>
        <p:spPr>
          <a:xfrm>
            <a:off x="1201212" y="2173856"/>
            <a:ext cx="9595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React is a JavaScript library for building user interfaces</a:t>
            </a:r>
            <a:r>
              <a:rPr lang="en-IN" sz="1800" dirty="0">
                <a:latin typeface="Calibri" panose="020F0502020204030204" pitchFamily="34" charset="0"/>
                <a:ea typeface="Aptos" panose="020B0004020202020204" pitchFamily="34" charset="0"/>
              </a:rPr>
              <a:t>, </a:t>
            </a: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especially single-page applications</a:t>
            </a:r>
            <a:r>
              <a:rPr lang="en-IN" sz="1400" dirty="0">
                <a:latin typeface="Calibri" panose="020F0502020204030204" pitchFamily="34" charset="0"/>
                <a:ea typeface="Aptos" panose="020B0004020202020204" pitchFamily="34" charset="0"/>
              </a:rPr>
              <a:t>.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143F31-0122-9079-E3BA-48555DDF34AE}"/>
              </a:ext>
            </a:extLst>
          </p:cNvPr>
          <p:cNvSpPr txBox="1"/>
          <p:nvPr/>
        </p:nvSpPr>
        <p:spPr>
          <a:xfrm>
            <a:off x="1201212" y="2885668"/>
            <a:ext cx="9595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Created and used by Facebook. Also used by: Instagram, Netflix, Airbnb and Udemy.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F6A262-6A24-CA6B-5AD4-B7F60F2C6BD1}"/>
              </a:ext>
            </a:extLst>
          </p:cNvPr>
          <p:cNvSpPr txBox="1"/>
          <p:nvPr/>
        </p:nvSpPr>
        <p:spPr>
          <a:xfrm>
            <a:off x="1201212" y="3597480"/>
            <a:ext cx="9595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Helps you create reusable pieces of a website, called components.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39638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Components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489A1B-F122-CC6A-CF7B-41A3B7EBDE0B}"/>
              </a:ext>
            </a:extLst>
          </p:cNvPr>
          <p:cNvSpPr txBox="1"/>
          <p:nvPr/>
        </p:nvSpPr>
        <p:spPr>
          <a:xfrm>
            <a:off x="1201212" y="1989190"/>
            <a:ext cx="95953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Components are the building blocks of a React app.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Each component is a small piece of code that does one specific thing.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013B2-FD1D-F049-A9FC-E80761C01D92}"/>
              </a:ext>
            </a:extLst>
          </p:cNvPr>
          <p:cNvSpPr txBox="1"/>
          <p:nvPr/>
        </p:nvSpPr>
        <p:spPr>
          <a:xfrm>
            <a:off x="1201212" y="2844225"/>
            <a:ext cx="9595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Reusable code blocks</a:t>
            </a:r>
            <a:endParaRPr lang="en-US" sz="1400" dirty="0"/>
          </a:p>
        </p:txBody>
      </p:sp>
      <p:pic>
        <p:nvPicPr>
          <p:cNvPr id="10" name="Picture 9" descr="Children playing with blocks in a room&#10;&#10;Description automatically generated">
            <a:extLst>
              <a:ext uri="{FF2B5EF4-FFF2-40B4-BE49-F238E27FC236}">
                <a16:creationId xmlns:a16="http://schemas.microsoft.com/office/drawing/2014/main" id="{607626C9-EF99-5D5D-CB9C-7F1C871EC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29593"/>
            <a:ext cx="6096000" cy="4545659"/>
          </a:xfrm>
          <a:prstGeom prst="rect">
            <a:avLst/>
          </a:prstGeom>
        </p:spPr>
      </p:pic>
      <p:pic>
        <p:nvPicPr>
          <p:cNvPr id="12" name="Picture 11" descr="A group of colorful building blocks&#10;&#10;Description automatically generated">
            <a:extLst>
              <a:ext uri="{FF2B5EF4-FFF2-40B4-BE49-F238E27FC236}">
                <a16:creationId xmlns:a16="http://schemas.microsoft.com/office/drawing/2014/main" id="{D0E4D93C-02B1-CF17-6E6E-BCA5955A2C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165" y="4192864"/>
            <a:ext cx="4549835" cy="213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25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527146"/>
            <a:ext cx="8331331" cy="1119564"/>
          </a:xfrm>
        </p:spPr>
        <p:txBody>
          <a:bodyPr anchor="b">
            <a:normAutofit/>
          </a:bodyPr>
          <a:lstStyle/>
          <a:p>
            <a:r>
              <a:rPr lang="en-US" sz="3200" dirty="0"/>
              <a:t>Virtual DOM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489A1B-F122-CC6A-CF7B-41A3B7EBDE0B}"/>
              </a:ext>
            </a:extLst>
          </p:cNvPr>
          <p:cNvSpPr txBox="1"/>
          <p:nvPr/>
        </p:nvSpPr>
        <p:spPr>
          <a:xfrm>
            <a:off x="1201212" y="1989190"/>
            <a:ext cx="9595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Updates the part of a page where it is needed. No ful</a:t>
            </a:r>
            <a:r>
              <a:rPr lang="en-US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l page refresh.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45E77F-C207-8973-4955-3DCD4E8186CE}"/>
              </a:ext>
            </a:extLst>
          </p:cNvPr>
          <p:cNvSpPr txBox="1"/>
          <p:nvPr/>
        </p:nvSpPr>
        <p:spPr>
          <a:xfrm>
            <a:off x="1201212" y="2701002"/>
            <a:ext cx="9595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Superfast and responsive, even with </a:t>
            </a:r>
            <a:r>
              <a:rPr lang="en-US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complex interactions.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41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940278"/>
            <a:ext cx="8331331" cy="706431"/>
          </a:xfrm>
        </p:spPr>
        <p:txBody>
          <a:bodyPr anchor="b">
            <a:normAutofit fontScale="90000"/>
          </a:bodyPr>
          <a:lstStyle/>
          <a:p>
            <a:r>
              <a:rPr lang="en-US" sz="3200" dirty="0"/>
              <a:t>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489A1B-F122-CC6A-CF7B-41A3B7EBDE0B}"/>
              </a:ext>
            </a:extLst>
          </p:cNvPr>
          <p:cNvSpPr txBox="1"/>
          <p:nvPr/>
        </p:nvSpPr>
        <p:spPr>
          <a:xfrm>
            <a:off x="1201212" y="1758874"/>
            <a:ext cx="9595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In React, state is a special object that holds data that can change over time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45E77F-C207-8973-4955-3DCD4E8186CE}"/>
              </a:ext>
            </a:extLst>
          </p:cNvPr>
          <p:cNvSpPr txBox="1"/>
          <p:nvPr/>
        </p:nvSpPr>
        <p:spPr>
          <a:xfrm>
            <a:off x="1201212" y="2263821"/>
            <a:ext cx="95953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 dirty="0"/>
              <a:t>Unlike props, which are passed down from parent to child components, state is managed within the component itself. 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CE0E4D-5E9A-F15E-370A-11F979B0C42B}"/>
              </a:ext>
            </a:extLst>
          </p:cNvPr>
          <p:cNvSpPr txBox="1">
            <a:spLocks/>
          </p:cNvSpPr>
          <p:nvPr/>
        </p:nvSpPr>
        <p:spPr>
          <a:xfrm>
            <a:off x="1201211" y="3438934"/>
            <a:ext cx="8331331" cy="706431"/>
          </a:xfrm>
          <a:prstGeom prst="rect">
            <a:avLst/>
          </a:prstGeom>
        </p:spPr>
        <p:txBody>
          <a:bodyPr vert="horz" lIns="109728" tIns="109728" rIns="109728" bIns="9144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5400" b="1" kern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Hooks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F7FBA0-84F0-2F6A-E9EC-9FD012AA273B}"/>
              </a:ext>
            </a:extLst>
          </p:cNvPr>
          <p:cNvSpPr txBox="1"/>
          <p:nvPr/>
        </p:nvSpPr>
        <p:spPr>
          <a:xfrm>
            <a:off x="1201210" y="4220880"/>
            <a:ext cx="93920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Hooks are special functions in React that allows you to use state and other React features in functional components</a:t>
            </a:r>
            <a:r>
              <a:rPr lang="en-IN" dirty="0">
                <a:effectLst/>
              </a:rPr>
              <a:t>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095DE6-E9EA-B269-B3FF-AC4175C97284}"/>
              </a:ext>
            </a:extLst>
          </p:cNvPr>
          <p:cNvSpPr txBox="1"/>
          <p:nvPr/>
        </p:nvSpPr>
        <p:spPr>
          <a:xfrm>
            <a:off x="1201209" y="4942726"/>
            <a:ext cx="8995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Hooks make your code easier to understand and share logic between the components.</a:t>
            </a:r>
            <a:r>
              <a:rPr lang="en-IN" dirty="0">
                <a:effectLst/>
              </a:rPr>
              <a:t>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408250-5247-858E-2197-7B1B706BCA1D}"/>
              </a:ext>
            </a:extLst>
          </p:cNvPr>
          <p:cNvSpPr txBox="1"/>
          <p:nvPr/>
        </p:nvSpPr>
        <p:spPr>
          <a:xfrm>
            <a:off x="1026543" y="18460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0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5" grpId="0"/>
      <p:bldP spid="7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940278"/>
            <a:ext cx="8331331" cy="706431"/>
          </a:xfrm>
        </p:spPr>
        <p:txBody>
          <a:bodyPr anchor="b">
            <a:normAutofit fontScale="90000"/>
          </a:bodyPr>
          <a:lstStyle/>
          <a:p>
            <a:r>
              <a:rPr lang="en-US" sz="3200" dirty="0"/>
              <a:t>Built-in Hooks in React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489A1B-F122-CC6A-CF7B-41A3B7EBDE0B}"/>
              </a:ext>
            </a:extLst>
          </p:cNvPr>
          <p:cNvSpPr txBox="1"/>
          <p:nvPr/>
        </p:nvSpPr>
        <p:spPr>
          <a:xfrm>
            <a:off x="2080756" y="2217655"/>
            <a:ext cx="3286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useState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813A9C-5013-9179-FF1B-2A16C85E8C7D}"/>
              </a:ext>
            </a:extLst>
          </p:cNvPr>
          <p:cNvSpPr txBox="1"/>
          <p:nvPr/>
        </p:nvSpPr>
        <p:spPr>
          <a:xfrm>
            <a:off x="2080756" y="2586987"/>
            <a:ext cx="3286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useEffect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EE3F0E-3245-BEBA-97C2-D81C61C68EB2}"/>
              </a:ext>
            </a:extLst>
          </p:cNvPr>
          <p:cNvSpPr txBox="1"/>
          <p:nvPr/>
        </p:nvSpPr>
        <p:spPr>
          <a:xfrm>
            <a:off x="2080756" y="2956319"/>
            <a:ext cx="3286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useContext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E18902-5663-CBAD-E41C-D2AB88F9519E}"/>
              </a:ext>
            </a:extLst>
          </p:cNvPr>
          <p:cNvSpPr txBox="1"/>
          <p:nvPr/>
        </p:nvSpPr>
        <p:spPr>
          <a:xfrm>
            <a:off x="2080756" y="3325651"/>
            <a:ext cx="3286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useReducer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556A80-3B8B-6656-97F4-4AD2D902388E}"/>
              </a:ext>
            </a:extLst>
          </p:cNvPr>
          <p:cNvSpPr txBox="1"/>
          <p:nvPr/>
        </p:nvSpPr>
        <p:spPr>
          <a:xfrm>
            <a:off x="2080756" y="3694983"/>
            <a:ext cx="3286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useRef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6DA0A8-0C94-C7F1-17F4-818C6D32A241}"/>
              </a:ext>
            </a:extLst>
          </p:cNvPr>
          <p:cNvSpPr txBox="1"/>
          <p:nvPr/>
        </p:nvSpPr>
        <p:spPr>
          <a:xfrm>
            <a:off x="2080756" y="4064315"/>
            <a:ext cx="3286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useMemo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C51587-424F-AE03-D289-8DA4514D00B2}"/>
              </a:ext>
            </a:extLst>
          </p:cNvPr>
          <p:cNvSpPr txBox="1"/>
          <p:nvPr/>
        </p:nvSpPr>
        <p:spPr>
          <a:xfrm>
            <a:off x="2080756" y="4433647"/>
            <a:ext cx="3286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Calibri" panose="020F0502020204030204" pitchFamily="34" charset="0"/>
                <a:cs typeface="Calibri" panose="020F0502020204030204" pitchFamily="34" charset="0"/>
              </a:rPr>
              <a:t>useCallback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8DA5C1-9666-703B-9266-ABA62F22D8C9}"/>
              </a:ext>
            </a:extLst>
          </p:cNvPr>
          <p:cNvSpPr txBox="1"/>
          <p:nvPr/>
        </p:nvSpPr>
        <p:spPr>
          <a:xfrm>
            <a:off x="2080756" y="5101759"/>
            <a:ext cx="3286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Custom hooks…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20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9" grpId="0"/>
      <p:bldP spid="11" grpId="0"/>
      <p:bldP spid="12" grpId="0"/>
      <p:bldP spid="13" grpId="0"/>
      <p:bldP spid="14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940278"/>
            <a:ext cx="8331331" cy="706431"/>
          </a:xfrm>
        </p:spPr>
        <p:txBody>
          <a:bodyPr anchor="b">
            <a:normAutofit fontScale="90000"/>
          </a:bodyPr>
          <a:lstStyle/>
          <a:p>
            <a:r>
              <a:rPr lang="en-US" sz="3200" dirty="0"/>
              <a:t>UseEffect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489A1B-F122-CC6A-CF7B-41A3B7EBDE0B}"/>
              </a:ext>
            </a:extLst>
          </p:cNvPr>
          <p:cNvSpPr txBox="1"/>
          <p:nvPr/>
        </p:nvSpPr>
        <p:spPr>
          <a:xfrm>
            <a:off x="1201212" y="1758874"/>
            <a:ext cx="9595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It’s a hook that lets you perform side effects in your functional components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CE0E4D-5E9A-F15E-370A-11F979B0C42B}"/>
              </a:ext>
            </a:extLst>
          </p:cNvPr>
          <p:cNvSpPr txBox="1">
            <a:spLocks/>
          </p:cNvSpPr>
          <p:nvPr/>
        </p:nvSpPr>
        <p:spPr>
          <a:xfrm>
            <a:off x="1211275" y="2441492"/>
            <a:ext cx="8331331" cy="706431"/>
          </a:xfrm>
          <a:prstGeom prst="rect">
            <a:avLst/>
          </a:prstGeom>
        </p:spPr>
        <p:txBody>
          <a:bodyPr vert="horz" lIns="109728" tIns="109728" rIns="109728" bIns="9144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5400" b="1" kern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Side Effect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F7FBA0-84F0-2F6A-E9EC-9FD012AA273B}"/>
              </a:ext>
            </a:extLst>
          </p:cNvPr>
          <p:cNvSpPr txBox="1"/>
          <p:nvPr/>
        </p:nvSpPr>
        <p:spPr>
          <a:xfrm>
            <a:off x="1211274" y="3223438"/>
            <a:ext cx="93920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Any action that affects something outside the scope of your component can be considered a side effect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095DE6-E9EA-B269-B3FF-AC4175C97284}"/>
              </a:ext>
            </a:extLst>
          </p:cNvPr>
          <p:cNvSpPr txBox="1"/>
          <p:nvPr/>
        </p:nvSpPr>
        <p:spPr>
          <a:xfrm>
            <a:off x="1660461" y="3973966"/>
            <a:ext cx="3716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Fetching data from an API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408250-5247-858E-2197-7B1B706BCA1D}"/>
              </a:ext>
            </a:extLst>
          </p:cNvPr>
          <p:cNvSpPr txBox="1"/>
          <p:nvPr/>
        </p:nvSpPr>
        <p:spPr>
          <a:xfrm>
            <a:off x="1026543" y="18460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6781B-17C2-E69D-657F-C7F6231D068A}"/>
              </a:ext>
            </a:extLst>
          </p:cNvPr>
          <p:cNvSpPr txBox="1"/>
          <p:nvPr/>
        </p:nvSpPr>
        <p:spPr>
          <a:xfrm>
            <a:off x="1660460" y="4447495"/>
            <a:ext cx="3716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Subscribing to a data stream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4ABA28-33D0-53E6-E251-3FCE1A9FFBA5}"/>
              </a:ext>
            </a:extLst>
          </p:cNvPr>
          <p:cNvSpPr txBox="1"/>
          <p:nvPr/>
        </p:nvSpPr>
        <p:spPr>
          <a:xfrm>
            <a:off x="1660460" y="4920280"/>
            <a:ext cx="3716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Manually changing the DOM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73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7" grpId="0"/>
      <p:bldP spid="10" grpId="0"/>
      <p:bldP spid="6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940278"/>
            <a:ext cx="8331331" cy="706431"/>
          </a:xfrm>
        </p:spPr>
        <p:txBody>
          <a:bodyPr anchor="b">
            <a:normAutofit fontScale="90000"/>
          </a:bodyPr>
          <a:lstStyle/>
          <a:p>
            <a:r>
              <a:rPr lang="en-US" sz="3200" dirty="0" err="1"/>
              <a:t>UseMemo</a:t>
            </a:r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489A1B-F122-CC6A-CF7B-41A3B7EBDE0B}"/>
              </a:ext>
            </a:extLst>
          </p:cNvPr>
          <p:cNvSpPr txBox="1"/>
          <p:nvPr/>
        </p:nvSpPr>
        <p:spPr>
          <a:xfrm>
            <a:off x="1201212" y="1758874"/>
            <a:ext cx="9737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useMemo</a:t>
            </a:r>
            <a:r>
              <a:rPr lang="en-US" dirty="0"/>
              <a:t> is a hook that memorizes a value.</a:t>
            </a:r>
            <a:r>
              <a:rPr lang="en-IN" dirty="0"/>
              <a:t> It remembers the result of a function.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408250-5247-858E-2197-7B1B706BCA1D}"/>
              </a:ext>
            </a:extLst>
          </p:cNvPr>
          <p:cNvSpPr txBox="1"/>
          <p:nvPr/>
        </p:nvSpPr>
        <p:spPr>
          <a:xfrm>
            <a:off x="1026543" y="18460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210021-D2D4-85A3-F860-CFE70D593FAF}"/>
              </a:ext>
            </a:extLst>
          </p:cNvPr>
          <p:cNvSpPr txBox="1"/>
          <p:nvPr/>
        </p:nvSpPr>
        <p:spPr>
          <a:xfrm>
            <a:off x="1118908" y="2799795"/>
            <a:ext cx="9737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Avoid expensive calculations on every render</a:t>
            </a:r>
            <a:r>
              <a:rPr lang="en-IN" dirty="0"/>
              <a:t>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9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940278"/>
            <a:ext cx="8331331" cy="706431"/>
          </a:xfrm>
        </p:spPr>
        <p:txBody>
          <a:bodyPr anchor="b">
            <a:normAutofit fontScale="90000"/>
          </a:bodyPr>
          <a:lstStyle/>
          <a:p>
            <a:r>
              <a:rPr lang="en-US" sz="3200" dirty="0"/>
              <a:t>Prop Drilling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408250-5247-858E-2197-7B1B706BCA1D}"/>
              </a:ext>
            </a:extLst>
          </p:cNvPr>
          <p:cNvSpPr txBox="1"/>
          <p:nvPr/>
        </p:nvSpPr>
        <p:spPr>
          <a:xfrm>
            <a:off x="1026543" y="18460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D0D941-4A63-E952-614C-5AD2314CDCF4}"/>
              </a:ext>
            </a:extLst>
          </p:cNvPr>
          <p:cNvSpPr/>
          <p:nvPr/>
        </p:nvSpPr>
        <p:spPr>
          <a:xfrm>
            <a:off x="4830336" y="1986785"/>
            <a:ext cx="2531327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Parent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C33E07AE-1821-36F4-4971-C23E56A62174}"/>
              </a:ext>
            </a:extLst>
          </p:cNvPr>
          <p:cNvSpPr/>
          <p:nvPr/>
        </p:nvSpPr>
        <p:spPr>
          <a:xfrm>
            <a:off x="5943598" y="2443985"/>
            <a:ext cx="304801" cy="6449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9D675F4-E021-C679-DB8E-0D6879FE7BA6}"/>
              </a:ext>
            </a:extLst>
          </p:cNvPr>
          <p:cNvSpPr/>
          <p:nvPr/>
        </p:nvSpPr>
        <p:spPr>
          <a:xfrm>
            <a:off x="4830334" y="3101907"/>
            <a:ext cx="2531327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 A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2E087C04-3FF4-09A7-A88F-1FEE54F12F8A}"/>
              </a:ext>
            </a:extLst>
          </p:cNvPr>
          <p:cNvSpPr/>
          <p:nvPr/>
        </p:nvSpPr>
        <p:spPr>
          <a:xfrm>
            <a:off x="5943596" y="3559107"/>
            <a:ext cx="304801" cy="6449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F948A4C-64AD-A6B3-4225-46EC88B7C889}"/>
              </a:ext>
            </a:extLst>
          </p:cNvPr>
          <p:cNvSpPr/>
          <p:nvPr/>
        </p:nvSpPr>
        <p:spPr>
          <a:xfrm>
            <a:off x="4830332" y="4217029"/>
            <a:ext cx="2531327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 B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12E4C2F4-558C-9ABD-890A-E05165F4B930}"/>
              </a:ext>
            </a:extLst>
          </p:cNvPr>
          <p:cNvSpPr/>
          <p:nvPr/>
        </p:nvSpPr>
        <p:spPr>
          <a:xfrm>
            <a:off x="5943594" y="4674229"/>
            <a:ext cx="304801" cy="6449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EF8C60C-A076-BD2B-4DC5-22A06D16271C}"/>
              </a:ext>
            </a:extLst>
          </p:cNvPr>
          <p:cNvSpPr/>
          <p:nvPr/>
        </p:nvSpPr>
        <p:spPr>
          <a:xfrm>
            <a:off x="4830330" y="5332151"/>
            <a:ext cx="2531327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Child 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3308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and blue clouds">
            <a:extLst>
              <a:ext uri="{FF2B5EF4-FFF2-40B4-BE49-F238E27FC236}">
                <a16:creationId xmlns:a16="http://schemas.microsoft.com/office/drawing/2014/main" id="{5F152BD7-03D0-F2D4-1BE1-A29A4C0A58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73" r="13174" b="2"/>
          <a:stretch/>
        </p:blipFill>
        <p:spPr>
          <a:xfrm>
            <a:off x="4487333" y="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22029-9DCE-E363-9852-AA8C349B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212" y="940278"/>
            <a:ext cx="8331331" cy="706431"/>
          </a:xfrm>
        </p:spPr>
        <p:txBody>
          <a:bodyPr anchor="b">
            <a:normAutofit fontScale="90000"/>
          </a:bodyPr>
          <a:lstStyle/>
          <a:p>
            <a:r>
              <a:rPr lang="en-US" sz="3200" dirty="0" err="1"/>
              <a:t>UseRef</a:t>
            </a:r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489A1B-F122-CC6A-CF7B-41A3B7EBDE0B}"/>
              </a:ext>
            </a:extLst>
          </p:cNvPr>
          <p:cNvSpPr txBox="1"/>
          <p:nvPr/>
        </p:nvSpPr>
        <p:spPr>
          <a:xfrm>
            <a:off x="1201212" y="2215385"/>
            <a:ext cx="9737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to access and interact with DOM elements directly</a:t>
            </a:r>
            <a:r>
              <a:rPr lang="en-IN" dirty="0"/>
              <a:t>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408250-5247-858E-2197-7B1B706BCA1D}"/>
              </a:ext>
            </a:extLst>
          </p:cNvPr>
          <p:cNvSpPr txBox="1"/>
          <p:nvPr/>
        </p:nvSpPr>
        <p:spPr>
          <a:xfrm>
            <a:off x="1026543" y="18460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210021-D2D4-85A3-F860-CFE70D593FAF}"/>
              </a:ext>
            </a:extLst>
          </p:cNvPr>
          <p:cNvSpPr txBox="1"/>
          <p:nvPr/>
        </p:nvSpPr>
        <p:spPr>
          <a:xfrm>
            <a:off x="1211274" y="2803961"/>
            <a:ext cx="9737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to store mutable values that doesn’t trigger a component re-render.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FE4A9-9FBF-E23C-3CE5-6DE6A02CB301}"/>
              </a:ext>
            </a:extLst>
          </p:cNvPr>
          <p:cNvSpPr txBox="1"/>
          <p:nvPr/>
        </p:nvSpPr>
        <p:spPr>
          <a:xfrm>
            <a:off x="1201212" y="3392537"/>
            <a:ext cx="9737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useRef</a:t>
            </a:r>
            <a:r>
              <a:rPr lang="en-US" dirty="0"/>
              <a:t> can hold the previous state value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60D500-E250-DD67-01FD-FD83AF80B89B}"/>
              </a:ext>
            </a:extLst>
          </p:cNvPr>
          <p:cNvSpPr txBox="1">
            <a:spLocks/>
          </p:cNvSpPr>
          <p:nvPr/>
        </p:nvSpPr>
        <p:spPr>
          <a:xfrm>
            <a:off x="2606963" y="4478050"/>
            <a:ext cx="8331331" cy="706431"/>
          </a:xfrm>
          <a:prstGeom prst="rect">
            <a:avLst/>
          </a:prstGeom>
        </p:spPr>
        <p:txBody>
          <a:bodyPr vert="horz" lIns="109728" tIns="109728" rIns="109728" bIns="9144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5400" b="1" kern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DOM – Document Object Model</a:t>
            </a:r>
          </a:p>
        </p:txBody>
      </p:sp>
    </p:spTree>
    <p:extLst>
      <p:ext uri="{BB962C8B-B14F-4D97-AF65-F5344CB8AC3E}">
        <p14:creationId xmlns:p14="http://schemas.microsoft.com/office/powerpoint/2010/main" val="37557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3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491F-6E32-2177-CAD7-FE6BA38A44F0}"/>
              </a:ext>
            </a:extLst>
          </p:cNvPr>
          <p:cNvSpPr txBox="1">
            <a:spLocks/>
          </p:cNvSpPr>
          <p:nvPr/>
        </p:nvSpPr>
        <p:spPr>
          <a:xfrm>
            <a:off x="1118908" y="508958"/>
            <a:ext cx="8331331" cy="706431"/>
          </a:xfrm>
          <a:prstGeom prst="rect">
            <a:avLst/>
          </a:prstGeom>
        </p:spPr>
        <p:txBody>
          <a:bodyPr anchor="b">
            <a:normAutofit fontScale="97500"/>
          </a:bodyPr>
          <a:lstStyle>
            <a:lvl1pPr algn="l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32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Access Token &amp; Refresh Token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1DF008-6ECB-7353-F4FC-7568104B03FC}"/>
              </a:ext>
            </a:extLst>
          </p:cNvPr>
          <p:cNvSpPr/>
          <p:nvPr/>
        </p:nvSpPr>
        <p:spPr>
          <a:xfrm>
            <a:off x="1449237" y="3094726"/>
            <a:ext cx="1906438" cy="66854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B2C82D-7260-1E2D-2D2E-6170A66BE860}"/>
              </a:ext>
            </a:extLst>
          </p:cNvPr>
          <p:cNvSpPr/>
          <p:nvPr/>
        </p:nvSpPr>
        <p:spPr>
          <a:xfrm>
            <a:off x="8836325" y="3094726"/>
            <a:ext cx="1906438" cy="66854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48F646F-1B04-CC36-2BEB-00684756D6BF}"/>
              </a:ext>
            </a:extLst>
          </p:cNvPr>
          <p:cNvCxnSpPr/>
          <p:nvPr/>
        </p:nvCxnSpPr>
        <p:spPr>
          <a:xfrm>
            <a:off x="3635188" y="3265055"/>
            <a:ext cx="4921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8C2DD3-13AE-4CB9-77BE-65789984EAF8}"/>
              </a:ext>
            </a:extLst>
          </p:cNvPr>
          <p:cNvCxnSpPr>
            <a:cxnSpLocks/>
          </p:cNvCxnSpPr>
          <p:nvPr/>
        </p:nvCxnSpPr>
        <p:spPr>
          <a:xfrm flipH="1">
            <a:off x="3635188" y="3632335"/>
            <a:ext cx="4921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1AAA001-A8CE-20E9-6841-CA0F87CE1D4C}"/>
              </a:ext>
            </a:extLst>
          </p:cNvPr>
          <p:cNvSpPr txBox="1"/>
          <p:nvPr/>
        </p:nvSpPr>
        <p:spPr>
          <a:xfrm>
            <a:off x="4312326" y="3036183"/>
            <a:ext cx="46379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http://127.0.0.1:8000/</a:t>
            </a:r>
            <a:r>
              <a:rPr lang="en-US" sz="1100" dirty="0" err="1"/>
              <a:t>api</a:t>
            </a:r>
            <a:r>
              <a:rPr lang="en-US" sz="1100" dirty="0"/>
              <a:t>/v1/protected-view/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A8F9DE-776D-3413-6AB9-CA276A4C4BD0}"/>
              </a:ext>
            </a:extLst>
          </p:cNvPr>
          <p:cNvSpPr txBox="1"/>
          <p:nvPr/>
        </p:nvSpPr>
        <p:spPr>
          <a:xfrm>
            <a:off x="7628965" y="3452545"/>
            <a:ext cx="9532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Response</a:t>
            </a: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E07AF0B0-F737-4479-FCBE-AFFDAB45BC22}"/>
              </a:ext>
            </a:extLst>
          </p:cNvPr>
          <p:cNvCxnSpPr>
            <a:cxnSpLocks/>
          </p:cNvCxnSpPr>
          <p:nvPr/>
        </p:nvCxnSpPr>
        <p:spPr>
          <a:xfrm flipV="1">
            <a:off x="4563035" y="2749586"/>
            <a:ext cx="367556" cy="269696"/>
          </a:xfrm>
          <a:prstGeom prst="bentConnector3">
            <a:avLst>
              <a:gd name="adj1" fmla="val 12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D35F622-912C-0862-459B-1EFDE06D1EF0}"/>
              </a:ext>
            </a:extLst>
          </p:cNvPr>
          <p:cNvSpPr txBox="1"/>
          <p:nvPr/>
        </p:nvSpPr>
        <p:spPr>
          <a:xfrm>
            <a:off x="4930591" y="2652002"/>
            <a:ext cx="1488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Valid access token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AACE4B-A645-8438-D584-5C69418F2F55}"/>
              </a:ext>
            </a:extLst>
          </p:cNvPr>
          <p:cNvSpPr txBox="1"/>
          <p:nvPr/>
        </p:nvSpPr>
        <p:spPr>
          <a:xfrm>
            <a:off x="1823182" y="2713557"/>
            <a:ext cx="11585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accessToken</a:t>
            </a:r>
          </a:p>
          <a:p>
            <a:r>
              <a:rPr lang="en-US" sz="1000" dirty="0"/>
              <a:t>refreshToken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469807-9A80-DEBE-CE46-A49A34C41CC1}"/>
              </a:ext>
            </a:extLst>
          </p:cNvPr>
          <p:cNvSpPr txBox="1"/>
          <p:nvPr/>
        </p:nvSpPr>
        <p:spPr>
          <a:xfrm>
            <a:off x="6293224" y="2651041"/>
            <a:ext cx="20743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– lifespan 5 mins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ECEEB2-3253-DA67-B3F6-1B5375FEDDB4}"/>
              </a:ext>
            </a:extLst>
          </p:cNvPr>
          <p:cNvSpPr txBox="1"/>
          <p:nvPr/>
        </p:nvSpPr>
        <p:spPr>
          <a:xfrm>
            <a:off x="3831697" y="3228663"/>
            <a:ext cx="7313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Request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9074B8-0079-9279-2A97-949A1321B7DE}"/>
              </a:ext>
            </a:extLst>
          </p:cNvPr>
          <p:cNvSpPr txBox="1"/>
          <p:nvPr/>
        </p:nvSpPr>
        <p:spPr>
          <a:xfrm>
            <a:off x="4930591" y="2516945"/>
            <a:ext cx="14881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Authorization header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5F3A1D0-BF2F-DAB5-5DA7-BD960AFF49E3}"/>
              </a:ext>
            </a:extLst>
          </p:cNvPr>
          <p:cNvSpPr txBox="1"/>
          <p:nvPr/>
        </p:nvSpPr>
        <p:spPr>
          <a:xfrm>
            <a:off x="6613079" y="3655551"/>
            <a:ext cx="1392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B050"/>
                </a:solidFill>
              </a:rPr>
              <a:t>{‘status’: ‘’success}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17DC7BF-6C4C-6F1D-06E7-57E5AF25E2F8}"/>
              </a:ext>
            </a:extLst>
          </p:cNvPr>
          <p:cNvSpPr txBox="1"/>
          <p:nvPr/>
        </p:nvSpPr>
        <p:spPr>
          <a:xfrm>
            <a:off x="6567092" y="3655551"/>
            <a:ext cx="17913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{‘status’: ‘401 Unauthorized}</a:t>
            </a:r>
          </a:p>
        </p:txBody>
      </p: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866B2502-ECD1-9B4A-48A9-33CD09FF6737}"/>
              </a:ext>
            </a:extLst>
          </p:cNvPr>
          <p:cNvCxnSpPr>
            <a:cxnSpLocks/>
            <a:stCxn id="57" idx="0"/>
            <a:endCxn id="8" idx="0"/>
          </p:cNvCxnSpPr>
          <p:nvPr/>
        </p:nvCxnSpPr>
        <p:spPr>
          <a:xfrm rot="16200000" flipH="1">
            <a:off x="5905415" y="-789403"/>
            <a:ext cx="381169" cy="7387088"/>
          </a:xfrm>
          <a:prstGeom prst="bentConnector3">
            <a:avLst>
              <a:gd name="adj1" fmla="val -151697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810870F-0878-F987-196E-083DA9A9C215}"/>
              </a:ext>
            </a:extLst>
          </p:cNvPr>
          <p:cNvSpPr txBox="1"/>
          <p:nvPr/>
        </p:nvSpPr>
        <p:spPr>
          <a:xfrm>
            <a:off x="5455023" y="1853575"/>
            <a:ext cx="19274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refreshToken</a:t>
            </a:r>
          </a:p>
        </p:txBody>
      </p: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27413F7E-5B8A-5F16-113F-584A2003BA91}"/>
              </a:ext>
            </a:extLst>
          </p:cNvPr>
          <p:cNvCxnSpPr>
            <a:cxnSpLocks/>
          </p:cNvCxnSpPr>
          <p:nvPr/>
        </p:nvCxnSpPr>
        <p:spPr>
          <a:xfrm rot="5400000">
            <a:off x="6096000" y="78694"/>
            <a:ext cx="12700" cy="7387088"/>
          </a:xfrm>
          <a:prstGeom prst="bentConnector3">
            <a:avLst>
              <a:gd name="adj1" fmla="val 6388228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C40F01B9-9059-E338-08A1-67A50BB66E92}"/>
              </a:ext>
            </a:extLst>
          </p:cNvPr>
          <p:cNvSpPr txBox="1"/>
          <p:nvPr/>
        </p:nvSpPr>
        <p:spPr>
          <a:xfrm>
            <a:off x="5466229" y="4613026"/>
            <a:ext cx="16539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New accessToken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9D2774D-70DD-B307-E06E-DB586C35D0FB}"/>
              </a:ext>
            </a:extLst>
          </p:cNvPr>
          <p:cNvSpPr txBox="1"/>
          <p:nvPr/>
        </p:nvSpPr>
        <p:spPr>
          <a:xfrm>
            <a:off x="6710522" y="3649127"/>
            <a:ext cx="19274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B050"/>
                </a:solidFill>
              </a:rPr>
              <a:t>{‘status’: ‘success’}</a:t>
            </a:r>
          </a:p>
        </p:txBody>
      </p:sp>
    </p:spTree>
    <p:extLst>
      <p:ext uri="{BB962C8B-B14F-4D97-AF65-F5344CB8AC3E}">
        <p14:creationId xmlns:p14="http://schemas.microsoft.com/office/powerpoint/2010/main" val="279085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3" grpId="0"/>
      <p:bldP spid="61" grpId="0"/>
      <p:bldP spid="65" grpId="0"/>
      <p:bldP spid="66" grpId="0"/>
      <p:bldP spid="66" grpId="1"/>
      <p:bldP spid="69" grpId="0"/>
      <p:bldP spid="69" grpId="1"/>
      <p:bldP spid="79" grpId="0"/>
      <p:bldP spid="104" grpId="0"/>
      <p:bldP spid="105" grpId="0"/>
      <p:bldP spid="105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491F-6E32-2177-CAD7-FE6BA38A44F0}"/>
              </a:ext>
            </a:extLst>
          </p:cNvPr>
          <p:cNvSpPr txBox="1">
            <a:spLocks/>
          </p:cNvSpPr>
          <p:nvPr/>
        </p:nvSpPr>
        <p:spPr>
          <a:xfrm>
            <a:off x="1108501" y="240089"/>
            <a:ext cx="8331331" cy="706431"/>
          </a:xfrm>
          <a:prstGeom prst="rect">
            <a:avLst/>
          </a:prstGeom>
        </p:spPr>
        <p:txBody>
          <a:bodyPr anchor="b">
            <a:normAutofit fontScale="97500"/>
          </a:bodyPr>
          <a:lstStyle>
            <a:lvl1pPr algn="l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32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Axios Interceptors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1DF008-6ECB-7353-F4FC-7568104B03FC}"/>
              </a:ext>
            </a:extLst>
          </p:cNvPr>
          <p:cNvSpPr/>
          <p:nvPr/>
        </p:nvSpPr>
        <p:spPr>
          <a:xfrm>
            <a:off x="1727144" y="4591832"/>
            <a:ext cx="1906438" cy="66854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B2C82D-7260-1E2D-2D2E-6170A66BE860}"/>
              </a:ext>
            </a:extLst>
          </p:cNvPr>
          <p:cNvSpPr/>
          <p:nvPr/>
        </p:nvSpPr>
        <p:spPr>
          <a:xfrm>
            <a:off x="9114232" y="4591832"/>
            <a:ext cx="1906438" cy="66854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48F646F-1B04-CC36-2BEB-00684756D6BF}"/>
              </a:ext>
            </a:extLst>
          </p:cNvPr>
          <p:cNvCxnSpPr/>
          <p:nvPr/>
        </p:nvCxnSpPr>
        <p:spPr>
          <a:xfrm>
            <a:off x="3913095" y="4762161"/>
            <a:ext cx="4921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8C2DD3-13AE-4CB9-77BE-65789984EAF8}"/>
              </a:ext>
            </a:extLst>
          </p:cNvPr>
          <p:cNvCxnSpPr>
            <a:cxnSpLocks/>
          </p:cNvCxnSpPr>
          <p:nvPr/>
        </p:nvCxnSpPr>
        <p:spPr>
          <a:xfrm flipH="1">
            <a:off x="3913095" y="5129441"/>
            <a:ext cx="4921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1AAA001-A8CE-20E9-6841-CA0F87CE1D4C}"/>
              </a:ext>
            </a:extLst>
          </p:cNvPr>
          <p:cNvSpPr txBox="1"/>
          <p:nvPr/>
        </p:nvSpPr>
        <p:spPr>
          <a:xfrm>
            <a:off x="4590233" y="4533289"/>
            <a:ext cx="46379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http://127.0.0.1:8000/</a:t>
            </a:r>
            <a:r>
              <a:rPr lang="en-US" sz="1100" dirty="0" err="1"/>
              <a:t>api</a:t>
            </a:r>
            <a:r>
              <a:rPr lang="en-US" sz="1100" dirty="0"/>
              <a:t>/v1/protected-view/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A8F9DE-776D-3413-6AB9-CA276A4C4BD0}"/>
              </a:ext>
            </a:extLst>
          </p:cNvPr>
          <p:cNvSpPr txBox="1"/>
          <p:nvPr/>
        </p:nvSpPr>
        <p:spPr>
          <a:xfrm>
            <a:off x="5001915" y="4941213"/>
            <a:ext cx="9532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Response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AACE4B-A645-8438-D584-5C69418F2F55}"/>
              </a:ext>
            </a:extLst>
          </p:cNvPr>
          <p:cNvSpPr txBox="1"/>
          <p:nvPr/>
        </p:nvSpPr>
        <p:spPr>
          <a:xfrm>
            <a:off x="2101089" y="4210663"/>
            <a:ext cx="11585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accessToken</a:t>
            </a:r>
          </a:p>
          <a:p>
            <a:r>
              <a:rPr lang="en-US" sz="1000" dirty="0"/>
              <a:t>refreshToken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ECEEB2-3253-DA67-B3F6-1B5375FEDDB4}"/>
              </a:ext>
            </a:extLst>
          </p:cNvPr>
          <p:cNvSpPr txBox="1"/>
          <p:nvPr/>
        </p:nvSpPr>
        <p:spPr>
          <a:xfrm>
            <a:off x="4109604" y="4725769"/>
            <a:ext cx="7313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Request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3EC4DF-6E96-3D55-E2E6-4E51616A3108}"/>
              </a:ext>
            </a:extLst>
          </p:cNvPr>
          <p:cNvCxnSpPr/>
          <p:nvPr/>
        </p:nvCxnSpPr>
        <p:spPr>
          <a:xfrm>
            <a:off x="4156501" y="4167304"/>
            <a:ext cx="247244" cy="576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801CD1-D776-C005-CBCE-8F337E032BBA}"/>
              </a:ext>
            </a:extLst>
          </p:cNvPr>
          <p:cNvCxnSpPr>
            <a:cxnSpLocks/>
          </p:cNvCxnSpPr>
          <p:nvPr/>
        </p:nvCxnSpPr>
        <p:spPr>
          <a:xfrm flipV="1">
            <a:off x="4870648" y="5156657"/>
            <a:ext cx="405467" cy="584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BD9A7EE-B7A0-7908-1642-D87A7CC796F8}"/>
              </a:ext>
            </a:extLst>
          </p:cNvPr>
          <p:cNvSpPr txBox="1"/>
          <p:nvPr/>
        </p:nvSpPr>
        <p:spPr>
          <a:xfrm>
            <a:off x="3803520" y="3952597"/>
            <a:ext cx="9532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Intercept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7546AD-6816-498E-5315-4650AB650783}"/>
              </a:ext>
            </a:extLst>
          </p:cNvPr>
          <p:cNvSpPr txBox="1"/>
          <p:nvPr/>
        </p:nvSpPr>
        <p:spPr>
          <a:xfrm>
            <a:off x="4543883" y="5735335"/>
            <a:ext cx="9532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Intercept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43B6CA-BDED-2FC7-6486-D8D781B87C31}"/>
              </a:ext>
            </a:extLst>
          </p:cNvPr>
          <p:cNvSpPr txBox="1"/>
          <p:nvPr/>
        </p:nvSpPr>
        <p:spPr>
          <a:xfrm>
            <a:off x="4156501" y="4149152"/>
            <a:ext cx="37270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Modify this request &amp; add Authorization header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18FAE1-69B2-59A4-720E-3BE2CFF1467E}"/>
              </a:ext>
            </a:extLst>
          </p:cNvPr>
          <p:cNvSpPr txBox="1"/>
          <p:nvPr/>
        </p:nvSpPr>
        <p:spPr>
          <a:xfrm>
            <a:off x="3633581" y="5900915"/>
            <a:ext cx="46049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Check this response for 401 status &amp; use refreshToken to get the new accessToken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738E4A-6BEB-10BD-62EC-FBCD1336BBF1}"/>
              </a:ext>
            </a:extLst>
          </p:cNvPr>
          <p:cNvSpPr txBox="1"/>
          <p:nvPr/>
        </p:nvSpPr>
        <p:spPr>
          <a:xfrm>
            <a:off x="1079146" y="1181082"/>
            <a:ext cx="10455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Interceptors are a feature that allows you to modify requests and responses before they are handled by the success handler or error handler.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EC230-FB9E-5273-4AB6-D9CCBE453C67}"/>
              </a:ext>
            </a:extLst>
          </p:cNvPr>
          <p:cNvSpPr txBox="1">
            <a:spLocks/>
          </p:cNvSpPr>
          <p:nvPr/>
        </p:nvSpPr>
        <p:spPr>
          <a:xfrm>
            <a:off x="1079146" y="1995669"/>
            <a:ext cx="2709180" cy="374754"/>
          </a:xfrm>
          <a:prstGeom prst="rect">
            <a:avLst/>
          </a:prstGeom>
        </p:spPr>
        <p:txBody>
          <a:bodyPr anchor="b">
            <a:normAutofit fontScale="97500"/>
          </a:bodyPr>
          <a:lstStyle>
            <a:lvl1pPr algn="l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32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Request Interceptors: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487ADC8-9C14-1F07-E1E1-3D2BF00AD5A6}"/>
              </a:ext>
            </a:extLst>
          </p:cNvPr>
          <p:cNvSpPr txBox="1">
            <a:spLocks/>
          </p:cNvSpPr>
          <p:nvPr/>
        </p:nvSpPr>
        <p:spPr>
          <a:xfrm>
            <a:off x="1079146" y="2507849"/>
            <a:ext cx="2818755" cy="374754"/>
          </a:xfrm>
          <a:prstGeom prst="rect">
            <a:avLst/>
          </a:prstGeom>
        </p:spPr>
        <p:txBody>
          <a:bodyPr anchor="b">
            <a:normAutofit fontScale="97500"/>
          </a:bodyPr>
          <a:lstStyle>
            <a:lvl1pPr algn="l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32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Response Interceptors: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E336C7-EF2F-D3A1-7770-DDDC047A6070}"/>
              </a:ext>
            </a:extLst>
          </p:cNvPr>
          <p:cNvSpPr txBox="1"/>
          <p:nvPr/>
        </p:nvSpPr>
        <p:spPr>
          <a:xfrm>
            <a:off x="3618387" y="2033521"/>
            <a:ext cx="7931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Request interceptors are used to modify requests before they are sent to the server.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640F36-16C4-46B0-09F7-6AC86FE5E314}"/>
              </a:ext>
            </a:extLst>
          </p:cNvPr>
          <p:cNvSpPr txBox="1"/>
          <p:nvPr/>
        </p:nvSpPr>
        <p:spPr>
          <a:xfrm>
            <a:off x="3788326" y="2547611"/>
            <a:ext cx="7294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Response interceptors are used to handle responses before they reach your then or catch methods. (Success handlers or error handlers)</a:t>
            </a:r>
          </a:p>
        </p:txBody>
      </p:sp>
    </p:spTree>
    <p:extLst>
      <p:ext uri="{BB962C8B-B14F-4D97-AF65-F5344CB8AC3E}">
        <p14:creationId xmlns:p14="http://schemas.microsoft.com/office/powerpoint/2010/main" val="73098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34" grpId="0"/>
      <p:bldP spid="35" grpId="0"/>
      <p:bldP spid="57" grpId="0"/>
      <p:bldP spid="63" grpId="0"/>
      <p:bldP spid="13" grpId="0"/>
      <p:bldP spid="14" grpId="0"/>
      <p:bldP spid="15" grpId="0"/>
      <p:bldP spid="16" grpId="0"/>
      <p:bldP spid="18" grpId="0"/>
      <p:bldP spid="20" grpId="0"/>
      <p:bldP spid="21" grpId="0"/>
      <p:bldP spid="23" grpId="0"/>
      <p:bldP spid="25" grpId="0"/>
    </p:bldLst>
  </p:timing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5578</TotalTime>
  <Words>1284</Words>
  <Application>Microsoft Office PowerPoint</Application>
  <PresentationFormat>Widescreen</PresentationFormat>
  <Paragraphs>239</Paragraphs>
  <Slides>30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Meiryo</vt:lpstr>
      <vt:lpstr>Aptos</vt:lpstr>
      <vt:lpstr>Arial</vt:lpstr>
      <vt:lpstr>Calibri</vt:lpstr>
      <vt:lpstr>Calibri Light</vt:lpstr>
      <vt:lpstr>Corbel</vt:lpstr>
      <vt:lpstr>SketchLinesVTI</vt:lpstr>
      <vt:lpstr>Django REST framework</vt:lpstr>
      <vt:lpstr>What is an API?</vt:lpstr>
      <vt:lpstr>What is REST API?</vt:lpstr>
      <vt:lpstr>Core Principles of REST</vt:lpstr>
      <vt:lpstr>Core Principles of REST</vt:lpstr>
      <vt:lpstr>Core Principles of REST</vt:lpstr>
      <vt:lpstr>RESTful Operations</vt:lpstr>
      <vt:lpstr>Virtual Environment</vt:lpstr>
      <vt:lpstr>Web Application Endpoints</vt:lpstr>
      <vt:lpstr>API Endpoints</vt:lpstr>
      <vt:lpstr>Serializers</vt:lpstr>
      <vt:lpstr>Class Based Views</vt:lpstr>
      <vt:lpstr>Mixins</vt:lpstr>
      <vt:lpstr>Mixins</vt:lpstr>
      <vt:lpstr>Mixins</vt:lpstr>
      <vt:lpstr>Generics</vt:lpstr>
      <vt:lpstr>Viewsets</vt:lpstr>
      <vt:lpstr>Pagination</vt:lpstr>
      <vt:lpstr>Filtering</vt:lpstr>
      <vt:lpstr>React Introduction</vt:lpstr>
      <vt:lpstr>Components</vt:lpstr>
      <vt:lpstr>Virtual DOM</vt:lpstr>
      <vt:lpstr>State</vt:lpstr>
      <vt:lpstr>Built-in Hooks in React</vt:lpstr>
      <vt:lpstr>UseEffect</vt:lpstr>
      <vt:lpstr>UseMemo</vt:lpstr>
      <vt:lpstr>Prop Drilling</vt:lpstr>
      <vt:lpstr>UseRef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Rathan Kumar</dc:creator>
  <cp:lastModifiedBy>gopisudha4488@gmail.com</cp:lastModifiedBy>
  <cp:revision>5</cp:revision>
  <dcterms:created xsi:type="dcterms:W3CDTF">2024-04-28T08:01:47Z</dcterms:created>
  <dcterms:modified xsi:type="dcterms:W3CDTF">2025-09-17T13:50:07Z</dcterms:modified>
</cp:coreProperties>
</file>